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82" r:id="rId2"/>
    <p:sldId id="418" r:id="rId3"/>
    <p:sldId id="419" r:id="rId4"/>
    <p:sldId id="420" r:id="rId5"/>
    <p:sldId id="421" r:id="rId6"/>
    <p:sldId id="422" r:id="rId7"/>
    <p:sldId id="423" r:id="rId8"/>
    <p:sldId id="424" r:id="rId9"/>
    <p:sldId id="425" r:id="rId10"/>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showGuides="1">
      <p:cViewPr varScale="1">
        <p:scale>
          <a:sx n="104" d="100"/>
          <a:sy n="104" d="100"/>
        </p:scale>
        <p:origin x="870" y="11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73E3C3-5FCE-4BDF-A8D9-AEBE22EBFEF6}" type="datetimeFigureOut">
              <a:rPr lang="ko-KR" altLang="en-US" smtClean="0"/>
              <a:t>2026-05-12</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F5F1BD-A3E0-4EAC-9CA0-88A0DD5E3F6B}" type="slidenum">
              <a:rPr lang="ko-KR" altLang="en-US" smtClean="0"/>
              <a:t>‹#›</a:t>
            </a:fld>
            <a:endParaRPr lang="ko-KR" altLang="en-US"/>
          </a:p>
        </p:txBody>
      </p:sp>
    </p:spTree>
    <p:extLst>
      <p:ext uri="{BB962C8B-B14F-4D97-AF65-F5344CB8AC3E}">
        <p14:creationId xmlns:p14="http://schemas.microsoft.com/office/powerpoint/2010/main" val="3770605278"/>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9BAFC6A6-9424-45AE-9004-17DF1DCD6D57}" type="slidenum">
              <a:rPr lang="ko-KR" altLang="en-US" smtClean="0"/>
              <a:t>1</a:t>
            </a:fld>
            <a:endParaRPr lang="ko-KR" altLang="en-US"/>
          </a:p>
        </p:txBody>
      </p:sp>
    </p:spTree>
    <p:extLst>
      <p:ext uri="{BB962C8B-B14F-4D97-AF65-F5344CB8AC3E}">
        <p14:creationId xmlns:p14="http://schemas.microsoft.com/office/powerpoint/2010/main" val="775182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30634-AECB-E0A2-2172-9257754C412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4F985E10-2F16-43F8-3999-F94F4B1771E6}"/>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D9CE8EE9-F255-FF8A-951F-2077070840D7}"/>
              </a:ext>
            </a:extLst>
          </p:cNvPr>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We are navigating a systemic energy crisis, characterized by expanding demand from the intensifying effects of climate change, modern agriculture, and the exponential growth of global data servers. To curb consumption in massive urban structures like skyscrapers, policymakers are increasingly introducing regulatory incentives for energy-efficient buildings. Precise energy consumption forecasting has become essential, providing the predictive clarity required for effective resource management and the optimization of building efficiency.</a:t>
            </a:r>
            <a:endParaRPr lang="ko-KR" altLang="en-US" dirty="0"/>
          </a:p>
          <a:p>
            <a:endParaRPr lang="en-US" altLang="ko-KR" dirty="0"/>
          </a:p>
        </p:txBody>
      </p:sp>
      <p:sp>
        <p:nvSpPr>
          <p:cNvPr id="4" name="슬라이드 번호 개체 틀 3">
            <a:extLst>
              <a:ext uri="{FF2B5EF4-FFF2-40B4-BE49-F238E27FC236}">
                <a16:creationId xmlns:a16="http://schemas.microsoft.com/office/drawing/2014/main" id="{0062FFFC-FAE7-B11F-BF58-7759D070C95B}"/>
              </a:ext>
            </a:extLst>
          </p:cNvPr>
          <p:cNvSpPr>
            <a:spLocks noGrp="1"/>
          </p:cNvSpPr>
          <p:nvPr>
            <p:ph type="sldNum" sz="quarter" idx="5"/>
          </p:nvPr>
        </p:nvSpPr>
        <p:spPr/>
        <p:txBody>
          <a:bodyPr/>
          <a:lstStyle/>
          <a:p>
            <a:fld id="{9BAFC6A6-9424-45AE-9004-17DF1DCD6D57}" type="slidenum">
              <a:rPr lang="ko-KR" altLang="en-US" smtClean="0"/>
              <a:t>2</a:t>
            </a:fld>
            <a:endParaRPr lang="ko-KR" altLang="en-US"/>
          </a:p>
        </p:txBody>
      </p:sp>
    </p:spTree>
    <p:extLst>
      <p:ext uri="{BB962C8B-B14F-4D97-AF65-F5344CB8AC3E}">
        <p14:creationId xmlns:p14="http://schemas.microsoft.com/office/powerpoint/2010/main" val="29396176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BC979-6511-5D24-46DF-39DA24627960}"/>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B7403A00-AEB1-E00E-0083-6533C4B251B5}"/>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90438497-E795-E551-2FDC-DA016C22B807}"/>
              </a:ext>
            </a:extLst>
          </p:cNvPr>
          <p:cNvSpPr>
            <a:spLocks noGrp="1"/>
          </p:cNvSpPr>
          <p:nvPr>
            <p:ph type="body" idx="1"/>
          </p:nvPr>
        </p:nvSpPr>
        <p:spPr/>
        <p:txBody>
          <a:bodyPr/>
          <a:lstStyle/>
          <a:p>
            <a:endParaRPr lang="en-US" altLang="ko-KR" dirty="0"/>
          </a:p>
        </p:txBody>
      </p:sp>
      <p:sp>
        <p:nvSpPr>
          <p:cNvPr id="4" name="슬라이드 번호 개체 틀 3">
            <a:extLst>
              <a:ext uri="{FF2B5EF4-FFF2-40B4-BE49-F238E27FC236}">
                <a16:creationId xmlns:a16="http://schemas.microsoft.com/office/drawing/2014/main" id="{09EE8A68-B77A-ECAC-84CB-16925FE20114}"/>
              </a:ext>
            </a:extLst>
          </p:cNvPr>
          <p:cNvSpPr>
            <a:spLocks noGrp="1"/>
          </p:cNvSpPr>
          <p:nvPr>
            <p:ph type="sldNum" sz="quarter" idx="5"/>
          </p:nvPr>
        </p:nvSpPr>
        <p:spPr/>
        <p:txBody>
          <a:bodyPr/>
          <a:lstStyle/>
          <a:p>
            <a:fld id="{9BAFC6A6-9424-45AE-9004-17DF1DCD6D57}" type="slidenum">
              <a:rPr lang="ko-KR" altLang="en-US" smtClean="0"/>
              <a:t>3</a:t>
            </a:fld>
            <a:endParaRPr lang="ko-KR" altLang="en-US"/>
          </a:p>
        </p:txBody>
      </p:sp>
    </p:spTree>
    <p:extLst>
      <p:ext uri="{BB962C8B-B14F-4D97-AF65-F5344CB8AC3E}">
        <p14:creationId xmlns:p14="http://schemas.microsoft.com/office/powerpoint/2010/main" val="42386463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D5EFB-9FBE-73FE-5AD2-A9E3806AE55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AC34F689-DD56-3D53-C486-BE0E78924E20}"/>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78698822-CCA7-F86B-1B85-5ED742E49F05}"/>
              </a:ext>
            </a:extLst>
          </p:cNvPr>
          <p:cNvSpPr>
            <a:spLocks noGrp="1"/>
          </p:cNvSpPr>
          <p:nvPr>
            <p:ph type="body" idx="1"/>
          </p:nvPr>
        </p:nvSpPr>
        <p:spPr/>
        <p:txBody>
          <a:bodyPr/>
          <a:lstStyle/>
          <a:p>
            <a:endParaRPr lang="en-US" altLang="ko-KR" dirty="0"/>
          </a:p>
        </p:txBody>
      </p:sp>
      <p:sp>
        <p:nvSpPr>
          <p:cNvPr id="4" name="슬라이드 번호 개체 틀 3">
            <a:extLst>
              <a:ext uri="{FF2B5EF4-FFF2-40B4-BE49-F238E27FC236}">
                <a16:creationId xmlns:a16="http://schemas.microsoft.com/office/drawing/2014/main" id="{5E35AA11-A34A-6645-C9CB-69A51008567D}"/>
              </a:ext>
            </a:extLst>
          </p:cNvPr>
          <p:cNvSpPr>
            <a:spLocks noGrp="1"/>
          </p:cNvSpPr>
          <p:nvPr>
            <p:ph type="sldNum" sz="quarter" idx="5"/>
          </p:nvPr>
        </p:nvSpPr>
        <p:spPr/>
        <p:txBody>
          <a:bodyPr/>
          <a:lstStyle/>
          <a:p>
            <a:fld id="{9BAFC6A6-9424-45AE-9004-17DF1DCD6D57}" type="slidenum">
              <a:rPr lang="ko-KR" altLang="en-US" smtClean="0"/>
              <a:t>4</a:t>
            </a:fld>
            <a:endParaRPr lang="ko-KR" altLang="en-US"/>
          </a:p>
        </p:txBody>
      </p:sp>
    </p:spTree>
    <p:extLst>
      <p:ext uri="{BB962C8B-B14F-4D97-AF65-F5344CB8AC3E}">
        <p14:creationId xmlns:p14="http://schemas.microsoft.com/office/powerpoint/2010/main" val="4521801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D3922-36AF-1FE4-F507-F358824A9646}"/>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11F940E-DCF8-EF0B-CC80-0987B73C298E}"/>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E64A278F-A3D5-BCC9-BC33-9DE9C0B30963}"/>
              </a:ext>
            </a:extLst>
          </p:cNvPr>
          <p:cNvSpPr>
            <a:spLocks noGrp="1"/>
          </p:cNvSpPr>
          <p:nvPr>
            <p:ph type="body" idx="1"/>
          </p:nvPr>
        </p:nvSpPr>
        <p:spPr/>
        <p:txBody>
          <a:bodyPr/>
          <a:lstStyle/>
          <a:p>
            <a:endParaRPr lang="en-US" altLang="ko-KR" dirty="0"/>
          </a:p>
        </p:txBody>
      </p:sp>
      <p:sp>
        <p:nvSpPr>
          <p:cNvPr id="4" name="슬라이드 번호 개체 틀 3">
            <a:extLst>
              <a:ext uri="{FF2B5EF4-FFF2-40B4-BE49-F238E27FC236}">
                <a16:creationId xmlns:a16="http://schemas.microsoft.com/office/drawing/2014/main" id="{8FBC13E7-2AA7-B6E4-DF8E-DA60BE5EB663}"/>
              </a:ext>
            </a:extLst>
          </p:cNvPr>
          <p:cNvSpPr>
            <a:spLocks noGrp="1"/>
          </p:cNvSpPr>
          <p:nvPr>
            <p:ph type="sldNum" sz="quarter" idx="5"/>
          </p:nvPr>
        </p:nvSpPr>
        <p:spPr/>
        <p:txBody>
          <a:bodyPr/>
          <a:lstStyle/>
          <a:p>
            <a:fld id="{9BAFC6A6-9424-45AE-9004-17DF1DCD6D57}" type="slidenum">
              <a:rPr lang="ko-KR" altLang="en-US" smtClean="0"/>
              <a:t>5</a:t>
            </a:fld>
            <a:endParaRPr lang="ko-KR" altLang="en-US"/>
          </a:p>
        </p:txBody>
      </p:sp>
    </p:spTree>
    <p:extLst>
      <p:ext uri="{BB962C8B-B14F-4D97-AF65-F5344CB8AC3E}">
        <p14:creationId xmlns:p14="http://schemas.microsoft.com/office/powerpoint/2010/main" val="11877886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D70D4-D116-E8A8-B822-FDF415B8BD1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A87D3CC8-6E0E-2A24-1427-56E222619F6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6D1E4026-4A14-1607-DA87-B96E25F21820}"/>
              </a:ext>
            </a:extLst>
          </p:cNvPr>
          <p:cNvSpPr>
            <a:spLocks noGrp="1"/>
          </p:cNvSpPr>
          <p:nvPr>
            <p:ph type="body" idx="1"/>
          </p:nvPr>
        </p:nvSpPr>
        <p:spPr/>
        <p:txBody>
          <a:bodyPr/>
          <a:lstStyle/>
          <a:p>
            <a:endParaRPr lang="en-US" altLang="ko-KR" dirty="0"/>
          </a:p>
        </p:txBody>
      </p:sp>
      <p:sp>
        <p:nvSpPr>
          <p:cNvPr id="4" name="슬라이드 번호 개체 틀 3">
            <a:extLst>
              <a:ext uri="{FF2B5EF4-FFF2-40B4-BE49-F238E27FC236}">
                <a16:creationId xmlns:a16="http://schemas.microsoft.com/office/drawing/2014/main" id="{AE548A7B-C2FC-DA18-DB5F-B197084F19EB}"/>
              </a:ext>
            </a:extLst>
          </p:cNvPr>
          <p:cNvSpPr>
            <a:spLocks noGrp="1"/>
          </p:cNvSpPr>
          <p:nvPr>
            <p:ph type="sldNum" sz="quarter" idx="5"/>
          </p:nvPr>
        </p:nvSpPr>
        <p:spPr/>
        <p:txBody>
          <a:bodyPr/>
          <a:lstStyle/>
          <a:p>
            <a:fld id="{9BAFC6A6-9424-45AE-9004-17DF1DCD6D57}" type="slidenum">
              <a:rPr lang="ko-KR" altLang="en-US" smtClean="0"/>
              <a:t>6</a:t>
            </a:fld>
            <a:endParaRPr lang="ko-KR" altLang="en-US"/>
          </a:p>
        </p:txBody>
      </p:sp>
    </p:spTree>
    <p:extLst>
      <p:ext uri="{BB962C8B-B14F-4D97-AF65-F5344CB8AC3E}">
        <p14:creationId xmlns:p14="http://schemas.microsoft.com/office/powerpoint/2010/main" val="21778174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AD965-04B8-C12A-FF73-FECDC55BC12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F4EB96C3-FAE7-7EC6-A837-4E20496662EA}"/>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04ACCC7D-A7B9-902A-F328-040B45E7B24A}"/>
              </a:ext>
            </a:extLst>
          </p:cNvPr>
          <p:cNvSpPr>
            <a:spLocks noGrp="1"/>
          </p:cNvSpPr>
          <p:nvPr>
            <p:ph type="body" idx="1"/>
          </p:nvPr>
        </p:nvSpPr>
        <p:spPr/>
        <p:txBody>
          <a:bodyPr/>
          <a:lstStyle/>
          <a:p>
            <a:endParaRPr lang="en-US" altLang="ko-KR" dirty="0"/>
          </a:p>
        </p:txBody>
      </p:sp>
      <p:sp>
        <p:nvSpPr>
          <p:cNvPr id="4" name="슬라이드 번호 개체 틀 3">
            <a:extLst>
              <a:ext uri="{FF2B5EF4-FFF2-40B4-BE49-F238E27FC236}">
                <a16:creationId xmlns:a16="http://schemas.microsoft.com/office/drawing/2014/main" id="{07D5E768-FEE3-B3B2-0701-9ABBC821CF6F}"/>
              </a:ext>
            </a:extLst>
          </p:cNvPr>
          <p:cNvSpPr>
            <a:spLocks noGrp="1"/>
          </p:cNvSpPr>
          <p:nvPr>
            <p:ph type="sldNum" sz="quarter" idx="5"/>
          </p:nvPr>
        </p:nvSpPr>
        <p:spPr/>
        <p:txBody>
          <a:bodyPr/>
          <a:lstStyle/>
          <a:p>
            <a:fld id="{9BAFC6A6-9424-45AE-9004-17DF1DCD6D57}" type="slidenum">
              <a:rPr lang="ko-KR" altLang="en-US" smtClean="0"/>
              <a:t>7</a:t>
            </a:fld>
            <a:endParaRPr lang="ko-KR" altLang="en-US"/>
          </a:p>
        </p:txBody>
      </p:sp>
    </p:spTree>
    <p:extLst>
      <p:ext uri="{BB962C8B-B14F-4D97-AF65-F5344CB8AC3E}">
        <p14:creationId xmlns:p14="http://schemas.microsoft.com/office/powerpoint/2010/main" val="22347132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7E6F1-ED17-A581-3756-E5AD8259D270}"/>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AEE2B578-EC4F-2062-A932-6F0409A2EF50}"/>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9F2560F-FB70-94F0-862C-70EBBB6D6C78}"/>
              </a:ext>
            </a:extLst>
          </p:cNvPr>
          <p:cNvSpPr>
            <a:spLocks noGrp="1"/>
          </p:cNvSpPr>
          <p:nvPr>
            <p:ph type="body" idx="1"/>
          </p:nvPr>
        </p:nvSpPr>
        <p:spPr/>
        <p:txBody>
          <a:bodyPr/>
          <a:lstStyle/>
          <a:p>
            <a:endParaRPr lang="en-US" altLang="ko-KR" dirty="0"/>
          </a:p>
        </p:txBody>
      </p:sp>
      <p:sp>
        <p:nvSpPr>
          <p:cNvPr id="4" name="슬라이드 번호 개체 틀 3">
            <a:extLst>
              <a:ext uri="{FF2B5EF4-FFF2-40B4-BE49-F238E27FC236}">
                <a16:creationId xmlns:a16="http://schemas.microsoft.com/office/drawing/2014/main" id="{A7A83434-4C0F-A695-8D2B-7E5476546733}"/>
              </a:ext>
            </a:extLst>
          </p:cNvPr>
          <p:cNvSpPr>
            <a:spLocks noGrp="1"/>
          </p:cNvSpPr>
          <p:nvPr>
            <p:ph type="sldNum" sz="quarter" idx="5"/>
          </p:nvPr>
        </p:nvSpPr>
        <p:spPr/>
        <p:txBody>
          <a:bodyPr/>
          <a:lstStyle/>
          <a:p>
            <a:fld id="{9BAFC6A6-9424-45AE-9004-17DF1DCD6D57}" type="slidenum">
              <a:rPr lang="ko-KR" altLang="en-US" smtClean="0"/>
              <a:t>8</a:t>
            </a:fld>
            <a:endParaRPr lang="ko-KR" altLang="en-US"/>
          </a:p>
        </p:txBody>
      </p:sp>
    </p:spTree>
    <p:extLst>
      <p:ext uri="{BB962C8B-B14F-4D97-AF65-F5344CB8AC3E}">
        <p14:creationId xmlns:p14="http://schemas.microsoft.com/office/powerpoint/2010/main" val="7836125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25581-9E47-B39C-DE99-1BC3885B2921}"/>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F6D0453-AB01-9B9E-C22B-F0D9520B3E66}"/>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87104B81-DA81-69BD-1E32-E977E3773783}"/>
              </a:ext>
            </a:extLst>
          </p:cNvPr>
          <p:cNvSpPr>
            <a:spLocks noGrp="1"/>
          </p:cNvSpPr>
          <p:nvPr>
            <p:ph type="body" idx="1"/>
          </p:nvPr>
        </p:nvSpPr>
        <p:spPr/>
        <p:txBody>
          <a:bodyPr/>
          <a:lstStyle/>
          <a:p>
            <a:endParaRPr lang="en-US" altLang="ko-KR" dirty="0"/>
          </a:p>
        </p:txBody>
      </p:sp>
      <p:sp>
        <p:nvSpPr>
          <p:cNvPr id="4" name="슬라이드 번호 개체 틀 3">
            <a:extLst>
              <a:ext uri="{FF2B5EF4-FFF2-40B4-BE49-F238E27FC236}">
                <a16:creationId xmlns:a16="http://schemas.microsoft.com/office/drawing/2014/main" id="{FC37CAC3-013A-C3A6-F4FF-8EB4074F517F}"/>
              </a:ext>
            </a:extLst>
          </p:cNvPr>
          <p:cNvSpPr>
            <a:spLocks noGrp="1"/>
          </p:cNvSpPr>
          <p:nvPr>
            <p:ph type="sldNum" sz="quarter" idx="5"/>
          </p:nvPr>
        </p:nvSpPr>
        <p:spPr/>
        <p:txBody>
          <a:bodyPr/>
          <a:lstStyle/>
          <a:p>
            <a:fld id="{9BAFC6A6-9424-45AE-9004-17DF1DCD6D57}" type="slidenum">
              <a:rPr lang="ko-KR" altLang="en-US" smtClean="0"/>
              <a:t>9</a:t>
            </a:fld>
            <a:endParaRPr lang="ko-KR" altLang="en-US"/>
          </a:p>
        </p:txBody>
      </p:sp>
    </p:spTree>
    <p:extLst>
      <p:ext uri="{BB962C8B-B14F-4D97-AF65-F5344CB8AC3E}">
        <p14:creationId xmlns:p14="http://schemas.microsoft.com/office/powerpoint/2010/main" val="35388125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7C68354-15E3-480B-C4F3-821F1CCB654E}"/>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6FD970B3-5B9B-D3AB-1526-5F5C0CE3708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279A4283-3F42-6B29-BD3C-A54013A16D04}"/>
              </a:ext>
            </a:extLst>
          </p:cNvPr>
          <p:cNvSpPr>
            <a:spLocks noGrp="1"/>
          </p:cNvSpPr>
          <p:nvPr>
            <p:ph type="dt" sz="half" idx="10"/>
          </p:nvPr>
        </p:nvSpPr>
        <p:spPr/>
        <p:txBody>
          <a:bodyPr/>
          <a:lstStyle/>
          <a:p>
            <a:fld id="{834E44CA-FABF-4B8D-8616-F06565FD395E}" type="datetimeFigureOut">
              <a:rPr lang="ko-KR" altLang="en-US" smtClean="0"/>
              <a:t>2026-05-12</a:t>
            </a:fld>
            <a:endParaRPr lang="ko-KR" altLang="en-US"/>
          </a:p>
        </p:txBody>
      </p:sp>
      <p:sp>
        <p:nvSpPr>
          <p:cNvPr id="5" name="바닥글 개체 틀 4">
            <a:extLst>
              <a:ext uri="{FF2B5EF4-FFF2-40B4-BE49-F238E27FC236}">
                <a16:creationId xmlns:a16="http://schemas.microsoft.com/office/drawing/2014/main" id="{C75212B4-4C71-8DA9-EF24-E7383D1438A0}"/>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5BAD5B96-2356-4DBF-C509-A2F0CB65AB1A}"/>
              </a:ext>
            </a:extLst>
          </p:cNvPr>
          <p:cNvSpPr>
            <a:spLocks noGrp="1"/>
          </p:cNvSpPr>
          <p:nvPr>
            <p:ph type="sldNum" sz="quarter" idx="12"/>
          </p:nvPr>
        </p:nvSpPr>
        <p:spPr/>
        <p:txBody>
          <a:bodyPr/>
          <a:lstStyle/>
          <a:p>
            <a:fld id="{C8277FBE-D7CA-4765-8E7B-534712DF6CF7}" type="slidenum">
              <a:rPr lang="ko-KR" altLang="en-US" smtClean="0"/>
              <a:t>‹#›</a:t>
            </a:fld>
            <a:endParaRPr lang="ko-KR" altLang="en-US"/>
          </a:p>
        </p:txBody>
      </p:sp>
    </p:spTree>
    <p:extLst>
      <p:ext uri="{BB962C8B-B14F-4D97-AF65-F5344CB8AC3E}">
        <p14:creationId xmlns:p14="http://schemas.microsoft.com/office/powerpoint/2010/main" val="4708869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BF0A180-6F75-8D25-C0E8-C05939893E6D}"/>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FF52B328-7D3F-F132-A7E6-1377F589EB8F}"/>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B2D732E8-66B1-5669-AA6F-19CE24FB81FE}"/>
              </a:ext>
            </a:extLst>
          </p:cNvPr>
          <p:cNvSpPr>
            <a:spLocks noGrp="1"/>
          </p:cNvSpPr>
          <p:nvPr>
            <p:ph type="dt" sz="half" idx="10"/>
          </p:nvPr>
        </p:nvSpPr>
        <p:spPr/>
        <p:txBody>
          <a:bodyPr/>
          <a:lstStyle/>
          <a:p>
            <a:fld id="{834E44CA-FABF-4B8D-8616-F06565FD395E}" type="datetimeFigureOut">
              <a:rPr lang="ko-KR" altLang="en-US" smtClean="0"/>
              <a:t>2026-05-12</a:t>
            </a:fld>
            <a:endParaRPr lang="ko-KR" altLang="en-US"/>
          </a:p>
        </p:txBody>
      </p:sp>
      <p:sp>
        <p:nvSpPr>
          <p:cNvPr id="5" name="바닥글 개체 틀 4">
            <a:extLst>
              <a:ext uri="{FF2B5EF4-FFF2-40B4-BE49-F238E27FC236}">
                <a16:creationId xmlns:a16="http://schemas.microsoft.com/office/drawing/2014/main" id="{C5460CB9-B52E-4842-7910-9E44280F5CAD}"/>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C51814F9-D6B9-75B2-0097-B32BFF8E641B}"/>
              </a:ext>
            </a:extLst>
          </p:cNvPr>
          <p:cNvSpPr>
            <a:spLocks noGrp="1"/>
          </p:cNvSpPr>
          <p:nvPr>
            <p:ph type="sldNum" sz="quarter" idx="12"/>
          </p:nvPr>
        </p:nvSpPr>
        <p:spPr/>
        <p:txBody>
          <a:bodyPr/>
          <a:lstStyle/>
          <a:p>
            <a:fld id="{C8277FBE-D7CA-4765-8E7B-534712DF6CF7}" type="slidenum">
              <a:rPr lang="ko-KR" altLang="en-US" smtClean="0"/>
              <a:t>‹#›</a:t>
            </a:fld>
            <a:endParaRPr lang="ko-KR" altLang="en-US"/>
          </a:p>
        </p:txBody>
      </p:sp>
    </p:spTree>
    <p:extLst>
      <p:ext uri="{BB962C8B-B14F-4D97-AF65-F5344CB8AC3E}">
        <p14:creationId xmlns:p14="http://schemas.microsoft.com/office/powerpoint/2010/main" val="36739363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72C3D28-1A6A-EDE2-55CD-1F85F72B3850}"/>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89E34F9A-D303-DEF8-6A3F-EECDC478695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0FC49BD4-FFEF-A8F4-FD68-6CA40D6E71D3}"/>
              </a:ext>
            </a:extLst>
          </p:cNvPr>
          <p:cNvSpPr>
            <a:spLocks noGrp="1"/>
          </p:cNvSpPr>
          <p:nvPr>
            <p:ph type="dt" sz="half" idx="10"/>
          </p:nvPr>
        </p:nvSpPr>
        <p:spPr/>
        <p:txBody>
          <a:bodyPr/>
          <a:lstStyle/>
          <a:p>
            <a:fld id="{834E44CA-FABF-4B8D-8616-F06565FD395E}" type="datetimeFigureOut">
              <a:rPr lang="ko-KR" altLang="en-US" smtClean="0"/>
              <a:t>2026-05-12</a:t>
            </a:fld>
            <a:endParaRPr lang="ko-KR" altLang="en-US"/>
          </a:p>
        </p:txBody>
      </p:sp>
      <p:sp>
        <p:nvSpPr>
          <p:cNvPr id="5" name="바닥글 개체 틀 4">
            <a:extLst>
              <a:ext uri="{FF2B5EF4-FFF2-40B4-BE49-F238E27FC236}">
                <a16:creationId xmlns:a16="http://schemas.microsoft.com/office/drawing/2014/main" id="{E206F9F1-1AE8-CE1B-2E66-CAB5C9C46778}"/>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0C8E74F8-DA96-48B8-5320-EBF633FBA2C4}"/>
              </a:ext>
            </a:extLst>
          </p:cNvPr>
          <p:cNvSpPr>
            <a:spLocks noGrp="1"/>
          </p:cNvSpPr>
          <p:nvPr>
            <p:ph type="sldNum" sz="quarter" idx="12"/>
          </p:nvPr>
        </p:nvSpPr>
        <p:spPr/>
        <p:txBody>
          <a:bodyPr/>
          <a:lstStyle/>
          <a:p>
            <a:fld id="{C8277FBE-D7CA-4765-8E7B-534712DF6CF7}" type="slidenum">
              <a:rPr lang="ko-KR" altLang="en-US" smtClean="0"/>
              <a:t>‹#›</a:t>
            </a:fld>
            <a:endParaRPr lang="ko-KR" altLang="en-US"/>
          </a:p>
        </p:txBody>
      </p:sp>
    </p:spTree>
    <p:extLst>
      <p:ext uri="{BB962C8B-B14F-4D97-AF65-F5344CB8AC3E}">
        <p14:creationId xmlns:p14="http://schemas.microsoft.com/office/powerpoint/2010/main" val="23098237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D2F0572-5CDD-7E9E-F776-F4B632B07F53}"/>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51B63717-6488-7C73-813D-A05A01BE2455}"/>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E0BFCD5B-8BE6-EA3B-FB8A-F265385AB5F1}"/>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9E55B2AF-F4DC-2D4D-070B-0A20D174596E}"/>
              </a:ext>
            </a:extLst>
          </p:cNvPr>
          <p:cNvSpPr>
            <a:spLocks noGrp="1"/>
          </p:cNvSpPr>
          <p:nvPr>
            <p:ph type="dt" sz="half" idx="10"/>
          </p:nvPr>
        </p:nvSpPr>
        <p:spPr/>
        <p:txBody>
          <a:bodyPr/>
          <a:lstStyle/>
          <a:p>
            <a:fld id="{834E44CA-FABF-4B8D-8616-F06565FD395E}" type="datetimeFigureOut">
              <a:rPr lang="ko-KR" altLang="en-US" smtClean="0"/>
              <a:t>2026-05-12</a:t>
            </a:fld>
            <a:endParaRPr lang="ko-KR" altLang="en-US"/>
          </a:p>
        </p:txBody>
      </p:sp>
      <p:sp>
        <p:nvSpPr>
          <p:cNvPr id="6" name="바닥글 개체 틀 5">
            <a:extLst>
              <a:ext uri="{FF2B5EF4-FFF2-40B4-BE49-F238E27FC236}">
                <a16:creationId xmlns:a16="http://schemas.microsoft.com/office/drawing/2014/main" id="{D049ABDE-946D-7B0E-2AA7-763D21414402}"/>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67AE6CF7-BDD8-72AA-5626-B33D053408F7}"/>
              </a:ext>
            </a:extLst>
          </p:cNvPr>
          <p:cNvSpPr>
            <a:spLocks noGrp="1"/>
          </p:cNvSpPr>
          <p:nvPr>
            <p:ph type="sldNum" sz="quarter" idx="12"/>
          </p:nvPr>
        </p:nvSpPr>
        <p:spPr/>
        <p:txBody>
          <a:bodyPr/>
          <a:lstStyle/>
          <a:p>
            <a:fld id="{C8277FBE-D7CA-4765-8E7B-534712DF6CF7}" type="slidenum">
              <a:rPr lang="ko-KR" altLang="en-US" smtClean="0"/>
              <a:t>‹#›</a:t>
            </a:fld>
            <a:endParaRPr lang="ko-KR" altLang="en-US"/>
          </a:p>
        </p:txBody>
      </p:sp>
    </p:spTree>
    <p:extLst>
      <p:ext uri="{BB962C8B-B14F-4D97-AF65-F5344CB8AC3E}">
        <p14:creationId xmlns:p14="http://schemas.microsoft.com/office/powerpoint/2010/main" val="20535613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08ECB70-766B-0D29-9DF7-9C4D9E634F3C}"/>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7B5BDE05-0838-6378-6CE6-995E95AF5EB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EAA0428F-112C-47CD-C250-94BBB735F7CE}"/>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FB602BCE-3C10-32C1-0AEA-31D1A12E6AC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E21C6AAE-AF2A-9BC5-98A0-E763E887CE28}"/>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D71B6BDF-57A9-F5C1-4F0A-E5A11EA8F98D}"/>
              </a:ext>
            </a:extLst>
          </p:cNvPr>
          <p:cNvSpPr>
            <a:spLocks noGrp="1"/>
          </p:cNvSpPr>
          <p:nvPr>
            <p:ph type="dt" sz="half" idx="10"/>
          </p:nvPr>
        </p:nvSpPr>
        <p:spPr/>
        <p:txBody>
          <a:bodyPr/>
          <a:lstStyle/>
          <a:p>
            <a:fld id="{834E44CA-FABF-4B8D-8616-F06565FD395E}" type="datetimeFigureOut">
              <a:rPr lang="ko-KR" altLang="en-US" smtClean="0"/>
              <a:t>2026-05-12</a:t>
            </a:fld>
            <a:endParaRPr lang="ko-KR" altLang="en-US"/>
          </a:p>
        </p:txBody>
      </p:sp>
      <p:sp>
        <p:nvSpPr>
          <p:cNvPr id="8" name="바닥글 개체 틀 7">
            <a:extLst>
              <a:ext uri="{FF2B5EF4-FFF2-40B4-BE49-F238E27FC236}">
                <a16:creationId xmlns:a16="http://schemas.microsoft.com/office/drawing/2014/main" id="{8796F615-352A-E452-7823-2F0373324056}"/>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A8890D53-E7E6-5B34-518A-F057B3518B2B}"/>
              </a:ext>
            </a:extLst>
          </p:cNvPr>
          <p:cNvSpPr>
            <a:spLocks noGrp="1"/>
          </p:cNvSpPr>
          <p:nvPr>
            <p:ph type="sldNum" sz="quarter" idx="12"/>
          </p:nvPr>
        </p:nvSpPr>
        <p:spPr/>
        <p:txBody>
          <a:bodyPr/>
          <a:lstStyle/>
          <a:p>
            <a:fld id="{C8277FBE-D7CA-4765-8E7B-534712DF6CF7}" type="slidenum">
              <a:rPr lang="ko-KR" altLang="en-US" smtClean="0"/>
              <a:t>‹#›</a:t>
            </a:fld>
            <a:endParaRPr lang="ko-KR" altLang="en-US"/>
          </a:p>
        </p:txBody>
      </p:sp>
    </p:spTree>
    <p:extLst>
      <p:ext uri="{BB962C8B-B14F-4D97-AF65-F5344CB8AC3E}">
        <p14:creationId xmlns:p14="http://schemas.microsoft.com/office/powerpoint/2010/main" val="8491294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C95079-B754-E746-FAD3-C123BFDF2BE9}"/>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E5E2179A-D31E-A0D7-18F1-A12D5EDE864D}"/>
              </a:ext>
            </a:extLst>
          </p:cNvPr>
          <p:cNvSpPr>
            <a:spLocks noGrp="1"/>
          </p:cNvSpPr>
          <p:nvPr>
            <p:ph type="dt" sz="half" idx="10"/>
          </p:nvPr>
        </p:nvSpPr>
        <p:spPr/>
        <p:txBody>
          <a:bodyPr/>
          <a:lstStyle/>
          <a:p>
            <a:fld id="{834E44CA-FABF-4B8D-8616-F06565FD395E}" type="datetimeFigureOut">
              <a:rPr lang="ko-KR" altLang="en-US" smtClean="0"/>
              <a:t>2026-05-12</a:t>
            </a:fld>
            <a:endParaRPr lang="ko-KR" altLang="en-US"/>
          </a:p>
        </p:txBody>
      </p:sp>
      <p:sp>
        <p:nvSpPr>
          <p:cNvPr id="4" name="바닥글 개체 틀 3">
            <a:extLst>
              <a:ext uri="{FF2B5EF4-FFF2-40B4-BE49-F238E27FC236}">
                <a16:creationId xmlns:a16="http://schemas.microsoft.com/office/drawing/2014/main" id="{A3070E32-0AD4-DD4C-3C76-4F6FCF3C3665}"/>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A29E4FFE-9F15-7AFB-B0CC-7B37F321F7AA}"/>
              </a:ext>
            </a:extLst>
          </p:cNvPr>
          <p:cNvSpPr>
            <a:spLocks noGrp="1"/>
          </p:cNvSpPr>
          <p:nvPr>
            <p:ph type="sldNum" sz="quarter" idx="12"/>
          </p:nvPr>
        </p:nvSpPr>
        <p:spPr/>
        <p:txBody>
          <a:bodyPr/>
          <a:lstStyle/>
          <a:p>
            <a:fld id="{C8277FBE-D7CA-4765-8E7B-534712DF6CF7}" type="slidenum">
              <a:rPr lang="ko-KR" altLang="en-US" smtClean="0"/>
              <a:t>‹#›</a:t>
            </a:fld>
            <a:endParaRPr lang="ko-KR" altLang="en-US"/>
          </a:p>
        </p:txBody>
      </p:sp>
    </p:spTree>
    <p:extLst>
      <p:ext uri="{BB962C8B-B14F-4D97-AF65-F5344CB8AC3E}">
        <p14:creationId xmlns:p14="http://schemas.microsoft.com/office/powerpoint/2010/main" val="1995218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5EAE785E-2E21-3647-2CD7-277240CEEE39}"/>
              </a:ext>
            </a:extLst>
          </p:cNvPr>
          <p:cNvSpPr>
            <a:spLocks noGrp="1"/>
          </p:cNvSpPr>
          <p:nvPr>
            <p:ph type="dt" sz="half" idx="10"/>
          </p:nvPr>
        </p:nvSpPr>
        <p:spPr/>
        <p:txBody>
          <a:bodyPr/>
          <a:lstStyle/>
          <a:p>
            <a:fld id="{834E44CA-FABF-4B8D-8616-F06565FD395E}" type="datetimeFigureOut">
              <a:rPr lang="ko-KR" altLang="en-US" smtClean="0"/>
              <a:t>2026-05-12</a:t>
            </a:fld>
            <a:endParaRPr lang="ko-KR" altLang="en-US"/>
          </a:p>
        </p:txBody>
      </p:sp>
      <p:sp>
        <p:nvSpPr>
          <p:cNvPr id="3" name="바닥글 개체 틀 2">
            <a:extLst>
              <a:ext uri="{FF2B5EF4-FFF2-40B4-BE49-F238E27FC236}">
                <a16:creationId xmlns:a16="http://schemas.microsoft.com/office/drawing/2014/main" id="{D4138CB5-40CE-BC1B-ECED-77055EFA3A6F}"/>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C57F1A53-12B7-8A02-2590-A1775F641525}"/>
              </a:ext>
            </a:extLst>
          </p:cNvPr>
          <p:cNvSpPr>
            <a:spLocks noGrp="1"/>
          </p:cNvSpPr>
          <p:nvPr>
            <p:ph type="sldNum" sz="quarter" idx="12"/>
          </p:nvPr>
        </p:nvSpPr>
        <p:spPr/>
        <p:txBody>
          <a:bodyPr/>
          <a:lstStyle/>
          <a:p>
            <a:fld id="{C8277FBE-D7CA-4765-8E7B-534712DF6CF7}" type="slidenum">
              <a:rPr lang="ko-KR" altLang="en-US" smtClean="0"/>
              <a:t>‹#›</a:t>
            </a:fld>
            <a:endParaRPr lang="ko-KR" altLang="en-US"/>
          </a:p>
        </p:txBody>
      </p:sp>
    </p:spTree>
    <p:extLst>
      <p:ext uri="{BB962C8B-B14F-4D97-AF65-F5344CB8AC3E}">
        <p14:creationId xmlns:p14="http://schemas.microsoft.com/office/powerpoint/2010/main" val="37994953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3F978D1-01A4-1A1E-C685-2E32CBA85826}"/>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3002F455-68FD-3E83-008E-0CC22966DF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35995C02-09E2-91C4-08AD-00E8ADC628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944364C0-FE37-4B12-0EDA-3C70DCF25995}"/>
              </a:ext>
            </a:extLst>
          </p:cNvPr>
          <p:cNvSpPr>
            <a:spLocks noGrp="1"/>
          </p:cNvSpPr>
          <p:nvPr>
            <p:ph type="dt" sz="half" idx="10"/>
          </p:nvPr>
        </p:nvSpPr>
        <p:spPr/>
        <p:txBody>
          <a:bodyPr/>
          <a:lstStyle/>
          <a:p>
            <a:fld id="{834E44CA-FABF-4B8D-8616-F06565FD395E}" type="datetimeFigureOut">
              <a:rPr lang="ko-KR" altLang="en-US" smtClean="0"/>
              <a:t>2026-05-12</a:t>
            </a:fld>
            <a:endParaRPr lang="ko-KR" altLang="en-US"/>
          </a:p>
        </p:txBody>
      </p:sp>
      <p:sp>
        <p:nvSpPr>
          <p:cNvPr id="6" name="바닥글 개체 틀 5">
            <a:extLst>
              <a:ext uri="{FF2B5EF4-FFF2-40B4-BE49-F238E27FC236}">
                <a16:creationId xmlns:a16="http://schemas.microsoft.com/office/drawing/2014/main" id="{05AE8CFB-90EF-3752-2340-51DE5EEE7097}"/>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F46FA3F6-8AEC-4A65-8D8C-CE022A6A485D}"/>
              </a:ext>
            </a:extLst>
          </p:cNvPr>
          <p:cNvSpPr>
            <a:spLocks noGrp="1"/>
          </p:cNvSpPr>
          <p:nvPr>
            <p:ph type="sldNum" sz="quarter" idx="12"/>
          </p:nvPr>
        </p:nvSpPr>
        <p:spPr/>
        <p:txBody>
          <a:bodyPr/>
          <a:lstStyle/>
          <a:p>
            <a:fld id="{C8277FBE-D7CA-4765-8E7B-534712DF6CF7}" type="slidenum">
              <a:rPr lang="ko-KR" altLang="en-US" smtClean="0"/>
              <a:t>‹#›</a:t>
            </a:fld>
            <a:endParaRPr lang="ko-KR" altLang="en-US"/>
          </a:p>
        </p:txBody>
      </p:sp>
    </p:spTree>
    <p:extLst>
      <p:ext uri="{BB962C8B-B14F-4D97-AF65-F5344CB8AC3E}">
        <p14:creationId xmlns:p14="http://schemas.microsoft.com/office/powerpoint/2010/main" val="36044148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73B0886-4692-3EA5-0A87-3B692AADBABD}"/>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82398625-926D-A373-8C0E-4DF1071552B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49E0C921-EEDE-43A1-E1E4-9C341C3C36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AE2D6D0D-AF3A-76AD-5F04-C2833C97F8A8}"/>
              </a:ext>
            </a:extLst>
          </p:cNvPr>
          <p:cNvSpPr>
            <a:spLocks noGrp="1"/>
          </p:cNvSpPr>
          <p:nvPr>
            <p:ph type="dt" sz="half" idx="10"/>
          </p:nvPr>
        </p:nvSpPr>
        <p:spPr/>
        <p:txBody>
          <a:bodyPr/>
          <a:lstStyle/>
          <a:p>
            <a:fld id="{834E44CA-FABF-4B8D-8616-F06565FD395E}" type="datetimeFigureOut">
              <a:rPr lang="ko-KR" altLang="en-US" smtClean="0"/>
              <a:t>2026-05-12</a:t>
            </a:fld>
            <a:endParaRPr lang="ko-KR" altLang="en-US"/>
          </a:p>
        </p:txBody>
      </p:sp>
      <p:sp>
        <p:nvSpPr>
          <p:cNvPr id="6" name="바닥글 개체 틀 5">
            <a:extLst>
              <a:ext uri="{FF2B5EF4-FFF2-40B4-BE49-F238E27FC236}">
                <a16:creationId xmlns:a16="http://schemas.microsoft.com/office/drawing/2014/main" id="{A35FE7C0-32A6-2784-2A73-F997FEE559A2}"/>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94F4C153-EF30-3BCD-3258-14470C565492}"/>
              </a:ext>
            </a:extLst>
          </p:cNvPr>
          <p:cNvSpPr>
            <a:spLocks noGrp="1"/>
          </p:cNvSpPr>
          <p:nvPr>
            <p:ph type="sldNum" sz="quarter" idx="12"/>
          </p:nvPr>
        </p:nvSpPr>
        <p:spPr/>
        <p:txBody>
          <a:bodyPr/>
          <a:lstStyle/>
          <a:p>
            <a:fld id="{C8277FBE-D7CA-4765-8E7B-534712DF6CF7}" type="slidenum">
              <a:rPr lang="ko-KR" altLang="en-US" smtClean="0"/>
              <a:t>‹#›</a:t>
            </a:fld>
            <a:endParaRPr lang="ko-KR" altLang="en-US"/>
          </a:p>
        </p:txBody>
      </p:sp>
    </p:spTree>
    <p:extLst>
      <p:ext uri="{BB962C8B-B14F-4D97-AF65-F5344CB8AC3E}">
        <p14:creationId xmlns:p14="http://schemas.microsoft.com/office/powerpoint/2010/main" val="36759445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579848D-0965-BDF4-0FF0-E048E9C6C1BF}"/>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A5EB48CB-5DBE-CE1E-3F0D-9B98172A729F}"/>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9CD1950F-C778-F250-484D-C9A0D448AD13}"/>
              </a:ext>
            </a:extLst>
          </p:cNvPr>
          <p:cNvSpPr>
            <a:spLocks noGrp="1"/>
          </p:cNvSpPr>
          <p:nvPr>
            <p:ph type="dt" sz="half" idx="10"/>
          </p:nvPr>
        </p:nvSpPr>
        <p:spPr/>
        <p:txBody>
          <a:bodyPr/>
          <a:lstStyle/>
          <a:p>
            <a:fld id="{834E44CA-FABF-4B8D-8616-F06565FD395E}" type="datetimeFigureOut">
              <a:rPr lang="ko-KR" altLang="en-US" smtClean="0"/>
              <a:t>2026-05-12</a:t>
            </a:fld>
            <a:endParaRPr lang="ko-KR" altLang="en-US"/>
          </a:p>
        </p:txBody>
      </p:sp>
      <p:sp>
        <p:nvSpPr>
          <p:cNvPr id="5" name="바닥글 개체 틀 4">
            <a:extLst>
              <a:ext uri="{FF2B5EF4-FFF2-40B4-BE49-F238E27FC236}">
                <a16:creationId xmlns:a16="http://schemas.microsoft.com/office/drawing/2014/main" id="{10175DE6-6D3A-FCEB-60AA-0D352EE55CF8}"/>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22C54DEA-0609-CB09-EEAA-766C099E0055}"/>
              </a:ext>
            </a:extLst>
          </p:cNvPr>
          <p:cNvSpPr>
            <a:spLocks noGrp="1"/>
          </p:cNvSpPr>
          <p:nvPr>
            <p:ph type="sldNum" sz="quarter" idx="12"/>
          </p:nvPr>
        </p:nvSpPr>
        <p:spPr/>
        <p:txBody>
          <a:bodyPr/>
          <a:lstStyle/>
          <a:p>
            <a:fld id="{C8277FBE-D7CA-4765-8E7B-534712DF6CF7}" type="slidenum">
              <a:rPr lang="ko-KR" altLang="en-US" smtClean="0"/>
              <a:t>‹#›</a:t>
            </a:fld>
            <a:endParaRPr lang="ko-KR" altLang="en-US"/>
          </a:p>
        </p:txBody>
      </p:sp>
    </p:spTree>
    <p:extLst>
      <p:ext uri="{BB962C8B-B14F-4D97-AF65-F5344CB8AC3E}">
        <p14:creationId xmlns:p14="http://schemas.microsoft.com/office/powerpoint/2010/main" val="17277357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994BE5A1-D0EB-2297-31D2-40F2C53B2CDA}"/>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4BDA1E55-3C62-231A-255A-525D4FD889B9}"/>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4D560C22-933A-AF26-A48F-C4E8A740CAD8}"/>
              </a:ext>
            </a:extLst>
          </p:cNvPr>
          <p:cNvSpPr>
            <a:spLocks noGrp="1"/>
          </p:cNvSpPr>
          <p:nvPr>
            <p:ph type="dt" sz="half" idx="10"/>
          </p:nvPr>
        </p:nvSpPr>
        <p:spPr/>
        <p:txBody>
          <a:bodyPr/>
          <a:lstStyle/>
          <a:p>
            <a:fld id="{834E44CA-FABF-4B8D-8616-F06565FD395E}" type="datetimeFigureOut">
              <a:rPr lang="ko-KR" altLang="en-US" smtClean="0"/>
              <a:t>2026-05-12</a:t>
            </a:fld>
            <a:endParaRPr lang="ko-KR" altLang="en-US"/>
          </a:p>
        </p:txBody>
      </p:sp>
      <p:sp>
        <p:nvSpPr>
          <p:cNvPr id="5" name="바닥글 개체 틀 4">
            <a:extLst>
              <a:ext uri="{FF2B5EF4-FFF2-40B4-BE49-F238E27FC236}">
                <a16:creationId xmlns:a16="http://schemas.microsoft.com/office/drawing/2014/main" id="{B86AB9AB-5872-7DC8-F05C-C57C9E7F8DE1}"/>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75E6A38A-9AF3-DD60-008B-7D95CCC00179}"/>
              </a:ext>
            </a:extLst>
          </p:cNvPr>
          <p:cNvSpPr>
            <a:spLocks noGrp="1"/>
          </p:cNvSpPr>
          <p:nvPr>
            <p:ph type="sldNum" sz="quarter" idx="12"/>
          </p:nvPr>
        </p:nvSpPr>
        <p:spPr/>
        <p:txBody>
          <a:bodyPr/>
          <a:lstStyle/>
          <a:p>
            <a:fld id="{C8277FBE-D7CA-4765-8E7B-534712DF6CF7}" type="slidenum">
              <a:rPr lang="ko-KR" altLang="en-US" smtClean="0"/>
              <a:t>‹#›</a:t>
            </a:fld>
            <a:endParaRPr lang="ko-KR" altLang="en-US"/>
          </a:p>
        </p:txBody>
      </p:sp>
    </p:spTree>
    <p:extLst>
      <p:ext uri="{BB962C8B-B14F-4D97-AF65-F5344CB8AC3E}">
        <p14:creationId xmlns:p14="http://schemas.microsoft.com/office/powerpoint/2010/main" val="15579431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D04738A6-44BD-B124-1964-BB94401FEE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879E7816-EB4D-BD86-ADD4-5AA0A50BD3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5519F00D-529F-6912-837E-376A6B1BFD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34E44CA-FABF-4B8D-8616-F06565FD395E}" type="datetimeFigureOut">
              <a:rPr lang="ko-KR" altLang="en-US" smtClean="0"/>
              <a:t>2026-05-12</a:t>
            </a:fld>
            <a:endParaRPr lang="ko-KR" altLang="en-US"/>
          </a:p>
        </p:txBody>
      </p:sp>
      <p:sp>
        <p:nvSpPr>
          <p:cNvPr id="5" name="바닥글 개체 틀 4">
            <a:extLst>
              <a:ext uri="{FF2B5EF4-FFF2-40B4-BE49-F238E27FC236}">
                <a16:creationId xmlns:a16="http://schemas.microsoft.com/office/drawing/2014/main" id="{13D69425-6DAF-B4E1-4695-C67D2F9CE30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04A1445C-FC12-FA6A-11D5-0EA4D3C072A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8277FBE-D7CA-4765-8E7B-534712DF6CF7}" type="slidenum">
              <a:rPr lang="ko-KR" altLang="en-US" smtClean="0"/>
              <a:t>‹#›</a:t>
            </a:fld>
            <a:endParaRPr lang="ko-KR" altLang="en-US"/>
          </a:p>
        </p:txBody>
      </p:sp>
    </p:spTree>
    <p:extLst>
      <p:ext uri="{BB962C8B-B14F-4D97-AF65-F5344CB8AC3E}">
        <p14:creationId xmlns:p14="http://schemas.microsoft.com/office/powerpoint/2010/main" val="12382811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직사각형 20">
            <a:extLst>
              <a:ext uri="{FF2B5EF4-FFF2-40B4-BE49-F238E27FC236}">
                <a16:creationId xmlns:a16="http://schemas.microsoft.com/office/drawing/2014/main" id="{8BABE695-E694-03A4-0B7F-3AEDB0E509C1}"/>
              </a:ext>
            </a:extLst>
          </p:cNvPr>
          <p:cNvSpPr/>
          <p:nvPr/>
        </p:nvSpPr>
        <p:spPr>
          <a:xfrm>
            <a:off x="0" y="1763194"/>
            <a:ext cx="12192000" cy="1665080"/>
          </a:xfrm>
          <a:prstGeom prst="rect">
            <a:avLst/>
          </a:prstGeom>
          <a:solidFill>
            <a:schemeClr val="bg1">
              <a:lumMod val="85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ko-KR" altLang="en-US"/>
          </a:p>
        </p:txBody>
      </p:sp>
      <p:sp>
        <p:nvSpPr>
          <p:cNvPr id="5" name="TextBox 4">
            <a:extLst>
              <a:ext uri="{FF2B5EF4-FFF2-40B4-BE49-F238E27FC236}">
                <a16:creationId xmlns:a16="http://schemas.microsoft.com/office/drawing/2014/main" id="{F241AE28-71EC-CC38-D954-558F9432D3E2}"/>
              </a:ext>
            </a:extLst>
          </p:cNvPr>
          <p:cNvSpPr txBox="1"/>
          <p:nvPr/>
        </p:nvSpPr>
        <p:spPr>
          <a:xfrm>
            <a:off x="1508601" y="2303347"/>
            <a:ext cx="9174797" cy="584775"/>
          </a:xfrm>
          <a:prstGeom prst="rect">
            <a:avLst/>
          </a:prstGeom>
          <a:noFill/>
        </p:spPr>
        <p:txBody>
          <a:bodyPr wrap="square" rtlCol="0">
            <a:spAutoFit/>
          </a:bodyPr>
          <a:lstStyle/>
          <a:p>
            <a:pPr algn="ctr"/>
            <a:r>
              <a:rPr lang="en-US" altLang="ko-KR" sz="3200" b="1" dirty="0">
                <a:latin typeface="Arial" panose="020B0604020202020204" pitchFamily="34" charset="0"/>
                <a:cs typeface="Arial" panose="020B0604020202020204" pitchFamily="34" charset="0"/>
              </a:rPr>
              <a:t>ASHRAE the Greate Energy Predictor III</a:t>
            </a:r>
            <a:endParaRPr lang="ko-KR" altLang="en-US" sz="3200"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64283927-EEE0-9372-0A9D-062B53AFFD04}"/>
              </a:ext>
            </a:extLst>
          </p:cNvPr>
          <p:cNvSpPr txBox="1"/>
          <p:nvPr/>
        </p:nvSpPr>
        <p:spPr>
          <a:xfrm>
            <a:off x="7410450" y="5780217"/>
            <a:ext cx="1090930" cy="369332"/>
          </a:xfrm>
          <a:prstGeom prst="rect">
            <a:avLst/>
          </a:prstGeom>
          <a:noFill/>
        </p:spPr>
        <p:txBody>
          <a:bodyPr wrap="square" rtlCol="0">
            <a:spAutoFit/>
          </a:bodyPr>
          <a:lstStyle/>
          <a:p>
            <a:pPr algn="r"/>
            <a:r>
              <a:rPr lang="en-US" altLang="ko-KR" b="1" dirty="0">
                <a:cs typeface="Arial" panose="020B0604020202020204" pitchFamily="34" charset="0"/>
              </a:rPr>
              <a:t>Date</a:t>
            </a:r>
            <a:r>
              <a:rPr lang="ko-KR" altLang="en-US" b="1" dirty="0">
                <a:cs typeface="Arial" panose="020B0604020202020204" pitchFamily="34" charset="0"/>
              </a:rPr>
              <a:t>  </a:t>
            </a:r>
            <a:r>
              <a:rPr lang="en-US" altLang="ko-KR" b="1" dirty="0">
                <a:cs typeface="Arial" panose="020B0604020202020204" pitchFamily="34" charset="0"/>
              </a:rPr>
              <a:t>   :</a:t>
            </a:r>
            <a:endParaRPr lang="ko-KR" altLang="en-US" b="1" dirty="0">
              <a:cs typeface="Arial" panose="020B0604020202020204" pitchFamily="34" charset="0"/>
            </a:endParaRPr>
          </a:p>
        </p:txBody>
      </p:sp>
      <p:sp>
        <p:nvSpPr>
          <p:cNvPr id="8" name="TextBox 7">
            <a:extLst>
              <a:ext uri="{FF2B5EF4-FFF2-40B4-BE49-F238E27FC236}">
                <a16:creationId xmlns:a16="http://schemas.microsoft.com/office/drawing/2014/main" id="{EDE7B108-FD68-41FE-B9A7-9C7D8C83EC89}"/>
              </a:ext>
            </a:extLst>
          </p:cNvPr>
          <p:cNvSpPr txBox="1"/>
          <p:nvPr/>
        </p:nvSpPr>
        <p:spPr>
          <a:xfrm>
            <a:off x="1242060" y="5226219"/>
            <a:ext cx="5584551" cy="923330"/>
          </a:xfrm>
          <a:prstGeom prst="rect">
            <a:avLst/>
          </a:prstGeom>
          <a:noFill/>
        </p:spPr>
        <p:txBody>
          <a:bodyPr wrap="square">
            <a:spAutoFit/>
          </a:bodyPr>
          <a:lstStyle/>
          <a:p>
            <a:r>
              <a:rPr lang="en-US" altLang="ko-KR" dirty="0">
                <a:ln>
                  <a:solidFill>
                    <a:schemeClr val="tx1">
                      <a:alpha val="67000"/>
                    </a:schemeClr>
                  </a:solidFill>
                </a:ln>
                <a:latin typeface="Arial" panose="020B0604020202020204" pitchFamily="34" charset="0"/>
                <a:ea typeface="+mj-ea"/>
                <a:cs typeface="Arial" panose="020B0604020202020204" pitchFamily="34" charset="0"/>
              </a:rPr>
              <a:t>Programming for data science</a:t>
            </a:r>
            <a:br>
              <a:rPr lang="en-US" altLang="ko-KR" sz="1800" dirty="0">
                <a:ln>
                  <a:solidFill>
                    <a:schemeClr val="tx1">
                      <a:alpha val="67000"/>
                    </a:schemeClr>
                  </a:solidFill>
                </a:ln>
                <a:latin typeface="Arial" panose="020B0604020202020204" pitchFamily="34" charset="0"/>
                <a:ea typeface="+mj-ea"/>
                <a:cs typeface="Arial" panose="020B0604020202020204" pitchFamily="34" charset="0"/>
              </a:rPr>
            </a:br>
            <a:r>
              <a:rPr lang="en-US" altLang="ko-KR" sz="1800" dirty="0">
                <a:ln>
                  <a:solidFill>
                    <a:schemeClr val="tx1">
                      <a:alpha val="67000"/>
                    </a:schemeClr>
                  </a:solidFill>
                </a:ln>
                <a:latin typeface="Arial" panose="020B0604020202020204" pitchFamily="34" charset="0"/>
                <a:ea typeface="+mj-ea"/>
                <a:cs typeface="Arial" panose="020B0604020202020204" pitchFamily="34" charset="0"/>
              </a:rPr>
              <a:t>Pohang University of Science and Technology (POSTECH)</a:t>
            </a:r>
            <a:endParaRPr lang="ko-KR" altLang="en-US" sz="1800" dirty="0">
              <a:ln>
                <a:solidFill>
                  <a:schemeClr val="tx1">
                    <a:alpha val="67000"/>
                  </a:schemeClr>
                </a:solidFill>
              </a:ln>
              <a:latin typeface="Arial" panose="020B0604020202020204" pitchFamily="34" charset="0"/>
              <a:ea typeface="+mj-ea"/>
              <a:cs typeface="Arial" panose="020B0604020202020204" pitchFamily="34" charset="0"/>
            </a:endParaRPr>
          </a:p>
        </p:txBody>
      </p:sp>
      <p:sp>
        <p:nvSpPr>
          <p:cNvPr id="10" name="TextBox 9">
            <a:extLst>
              <a:ext uri="{FF2B5EF4-FFF2-40B4-BE49-F238E27FC236}">
                <a16:creationId xmlns:a16="http://schemas.microsoft.com/office/drawing/2014/main" id="{B7D2E222-84F9-8E15-8DFB-EA2C7E774342}"/>
              </a:ext>
            </a:extLst>
          </p:cNvPr>
          <p:cNvSpPr txBox="1"/>
          <p:nvPr/>
        </p:nvSpPr>
        <p:spPr>
          <a:xfrm>
            <a:off x="8639448" y="5780217"/>
            <a:ext cx="1943100" cy="369332"/>
          </a:xfrm>
          <a:prstGeom prst="rect">
            <a:avLst/>
          </a:prstGeom>
          <a:noFill/>
        </p:spPr>
        <p:txBody>
          <a:bodyPr wrap="square">
            <a:spAutoFit/>
          </a:bodyPr>
          <a:lstStyle/>
          <a:p>
            <a:r>
              <a:rPr lang="en-US" altLang="ko-KR" b="1">
                <a:latin typeface="Arial" panose="020B0604020202020204" pitchFamily="34" charset="0"/>
                <a:cs typeface="Arial" panose="020B0604020202020204" pitchFamily="34" charset="0"/>
              </a:rPr>
              <a:t>2026-05-28</a:t>
            </a:r>
            <a:endParaRPr lang="en-US" altLang="ko-KR" b="1" dirty="0">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95490CBB-7F44-94BD-7CF3-81E274028B62}"/>
              </a:ext>
            </a:extLst>
          </p:cNvPr>
          <p:cNvSpPr txBox="1"/>
          <p:nvPr/>
        </p:nvSpPr>
        <p:spPr>
          <a:xfrm>
            <a:off x="6967108" y="5320784"/>
            <a:ext cx="1534272" cy="369332"/>
          </a:xfrm>
          <a:prstGeom prst="rect">
            <a:avLst/>
          </a:prstGeom>
          <a:noFill/>
        </p:spPr>
        <p:txBody>
          <a:bodyPr wrap="square">
            <a:spAutoFit/>
          </a:bodyPr>
          <a:lstStyle/>
          <a:p>
            <a:pPr algn="r"/>
            <a:r>
              <a:rPr lang="en-US" altLang="ko-KR" b="1" dirty="0">
                <a:cs typeface="Arial" panose="020B0604020202020204" pitchFamily="34" charset="0"/>
              </a:rPr>
              <a:t>Team     :</a:t>
            </a:r>
          </a:p>
        </p:txBody>
      </p:sp>
      <p:sp>
        <p:nvSpPr>
          <p:cNvPr id="15" name="TextBox 14">
            <a:extLst>
              <a:ext uri="{FF2B5EF4-FFF2-40B4-BE49-F238E27FC236}">
                <a16:creationId xmlns:a16="http://schemas.microsoft.com/office/drawing/2014/main" id="{E0B22890-37B8-190D-093A-01F58E66E1E2}"/>
              </a:ext>
            </a:extLst>
          </p:cNvPr>
          <p:cNvSpPr txBox="1"/>
          <p:nvPr/>
        </p:nvSpPr>
        <p:spPr>
          <a:xfrm>
            <a:off x="8639448" y="5320784"/>
            <a:ext cx="2641957" cy="369332"/>
          </a:xfrm>
          <a:prstGeom prst="rect">
            <a:avLst/>
          </a:prstGeom>
          <a:noFill/>
        </p:spPr>
        <p:txBody>
          <a:bodyPr wrap="square">
            <a:spAutoFit/>
          </a:bodyPr>
          <a:lstStyle/>
          <a:p>
            <a:r>
              <a:rPr lang="en-US" altLang="ko-KR" b="1" dirty="0">
                <a:latin typeface="Arial" panose="020B0604020202020204" pitchFamily="34" charset="0"/>
                <a:cs typeface="Arial" panose="020B0604020202020204" pitchFamily="34" charset="0"/>
              </a:rPr>
              <a:t>8</a:t>
            </a:r>
          </a:p>
        </p:txBody>
      </p:sp>
    </p:spTree>
    <p:extLst>
      <p:ext uri="{BB962C8B-B14F-4D97-AF65-F5344CB8AC3E}">
        <p14:creationId xmlns:p14="http://schemas.microsoft.com/office/powerpoint/2010/main" val="23772542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6FB57-A57C-C48C-5B8A-07F4279DF23B}"/>
            </a:ext>
          </a:extLst>
        </p:cNvPr>
        <p:cNvGrpSpPr/>
        <p:nvPr/>
      </p:nvGrpSpPr>
      <p:grpSpPr>
        <a:xfrm>
          <a:off x="0" y="0"/>
          <a:ext cx="0" cy="0"/>
          <a:chOff x="0" y="0"/>
          <a:chExt cx="0" cy="0"/>
        </a:xfrm>
      </p:grpSpPr>
      <p:cxnSp>
        <p:nvCxnSpPr>
          <p:cNvPr id="8" name="직선 연결선 7">
            <a:extLst>
              <a:ext uri="{FF2B5EF4-FFF2-40B4-BE49-F238E27FC236}">
                <a16:creationId xmlns:a16="http://schemas.microsoft.com/office/drawing/2014/main" id="{1D2528EE-8452-BF60-2D4D-01A1ED684572}"/>
              </a:ext>
            </a:extLst>
          </p:cNvPr>
          <p:cNvCxnSpPr>
            <a:cxnSpLocks/>
          </p:cNvCxnSpPr>
          <p:nvPr/>
        </p:nvCxnSpPr>
        <p:spPr>
          <a:xfrm>
            <a:off x="540640" y="686372"/>
            <a:ext cx="11651360" cy="0"/>
          </a:xfrm>
          <a:prstGeom prst="line">
            <a:avLst/>
          </a:prstGeom>
          <a:ln cap="rnd"/>
        </p:spPr>
        <p:style>
          <a:lnRef idx="2">
            <a:schemeClr val="dk1"/>
          </a:lnRef>
          <a:fillRef idx="0">
            <a:schemeClr val="dk1"/>
          </a:fillRef>
          <a:effectRef idx="1">
            <a:schemeClr val="dk1"/>
          </a:effectRef>
          <a:fontRef idx="minor">
            <a:schemeClr val="tx1"/>
          </a:fontRef>
        </p:style>
      </p:cxnSp>
      <p:sp>
        <p:nvSpPr>
          <p:cNvPr id="10" name="TextBox 9">
            <a:extLst>
              <a:ext uri="{FF2B5EF4-FFF2-40B4-BE49-F238E27FC236}">
                <a16:creationId xmlns:a16="http://schemas.microsoft.com/office/drawing/2014/main" id="{CAEEE6F1-7914-4C01-DCFB-E95FFF6F7CF0}"/>
              </a:ext>
            </a:extLst>
          </p:cNvPr>
          <p:cNvSpPr txBox="1"/>
          <p:nvPr/>
        </p:nvSpPr>
        <p:spPr>
          <a:xfrm>
            <a:off x="540638" y="154110"/>
            <a:ext cx="9733662" cy="461665"/>
          </a:xfrm>
          <a:prstGeom prst="rect">
            <a:avLst/>
          </a:prstGeom>
          <a:noFill/>
        </p:spPr>
        <p:txBody>
          <a:bodyPr wrap="square" rtlCol="0">
            <a:spAutoFit/>
          </a:bodyPr>
          <a:lstStyle/>
          <a:p>
            <a:r>
              <a:rPr lang="en-US" altLang="ko-KR" sz="2400" b="1" dirty="0">
                <a:latin typeface="Arial" panose="020B0604020202020204" pitchFamily="34" charset="0"/>
                <a:cs typeface="Arial" panose="020B0604020202020204" pitchFamily="34" charset="0"/>
              </a:rPr>
              <a:t>Introduction</a:t>
            </a:r>
            <a:endParaRPr lang="ko-KR" altLang="en-US" sz="2400" b="1" dirty="0">
              <a:latin typeface="Arial" panose="020B0604020202020204" pitchFamily="34" charset="0"/>
              <a:cs typeface="Arial" panose="020B0604020202020204" pitchFamily="34" charset="0"/>
            </a:endParaRPr>
          </a:p>
        </p:txBody>
      </p:sp>
      <p:sp>
        <p:nvSpPr>
          <p:cNvPr id="45" name="TextBox 44">
            <a:extLst>
              <a:ext uri="{FF2B5EF4-FFF2-40B4-BE49-F238E27FC236}">
                <a16:creationId xmlns:a16="http://schemas.microsoft.com/office/drawing/2014/main" id="{36709D25-0AD7-A49A-AB9F-907A250DE81D}"/>
              </a:ext>
            </a:extLst>
          </p:cNvPr>
          <p:cNvSpPr txBox="1"/>
          <p:nvPr/>
        </p:nvSpPr>
        <p:spPr>
          <a:xfrm>
            <a:off x="626268" y="693651"/>
            <a:ext cx="8320222" cy="369332"/>
          </a:xfrm>
          <a:prstGeom prst="rect">
            <a:avLst/>
          </a:prstGeom>
          <a:noFill/>
        </p:spPr>
        <p:txBody>
          <a:bodyPr wrap="square" rtlCol="0">
            <a:spAutoFit/>
          </a:bodyPr>
          <a:lstStyle/>
          <a:p>
            <a:r>
              <a:rPr lang="en-US" altLang="ko-KR" b="1" dirty="0"/>
              <a:t>Importance of energy prediction </a:t>
            </a:r>
            <a:endParaRPr lang="ko-KR" altLang="en-US" b="1" dirty="0"/>
          </a:p>
        </p:txBody>
      </p:sp>
      <p:pic>
        <p:nvPicPr>
          <p:cNvPr id="55" name="그림 54">
            <a:extLst>
              <a:ext uri="{FF2B5EF4-FFF2-40B4-BE49-F238E27FC236}">
                <a16:creationId xmlns:a16="http://schemas.microsoft.com/office/drawing/2014/main" id="{4DA35DE9-782B-147D-91A0-093AAD9555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7668" y="1666243"/>
            <a:ext cx="6463444" cy="3525514"/>
          </a:xfrm>
          <a:prstGeom prst="rect">
            <a:avLst/>
          </a:prstGeom>
        </p:spPr>
      </p:pic>
      <p:sp>
        <p:nvSpPr>
          <p:cNvPr id="56" name="TextBox 55">
            <a:extLst>
              <a:ext uri="{FF2B5EF4-FFF2-40B4-BE49-F238E27FC236}">
                <a16:creationId xmlns:a16="http://schemas.microsoft.com/office/drawing/2014/main" id="{E08CBEDB-4C51-B64C-93C9-0F0D5E065B4F}"/>
              </a:ext>
            </a:extLst>
          </p:cNvPr>
          <p:cNvSpPr txBox="1"/>
          <p:nvPr/>
        </p:nvSpPr>
        <p:spPr>
          <a:xfrm>
            <a:off x="3845769" y="5390757"/>
            <a:ext cx="3015343" cy="307777"/>
          </a:xfrm>
          <a:prstGeom prst="rect">
            <a:avLst/>
          </a:prstGeom>
          <a:noFill/>
        </p:spPr>
        <p:txBody>
          <a:bodyPr wrap="square" rtlCol="0">
            <a:spAutoFit/>
          </a:bodyPr>
          <a:lstStyle/>
          <a:p>
            <a:pPr algn="r"/>
            <a:r>
              <a:rPr lang="en-US" altLang="ko-KR" sz="1400" dirty="0"/>
              <a:t>Image generated from Gemini</a:t>
            </a:r>
            <a:endParaRPr lang="ko-KR" altLang="en-US" sz="1400" dirty="0"/>
          </a:p>
        </p:txBody>
      </p:sp>
      <p:sp>
        <p:nvSpPr>
          <p:cNvPr id="63" name="TextBox 62">
            <a:extLst>
              <a:ext uri="{FF2B5EF4-FFF2-40B4-BE49-F238E27FC236}">
                <a16:creationId xmlns:a16="http://schemas.microsoft.com/office/drawing/2014/main" id="{959F58CF-0DF1-EAC6-BA6F-7132C918B1DC}"/>
              </a:ext>
            </a:extLst>
          </p:cNvPr>
          <p:cNvSpPr txBox="1"/>
          <p:nvPr/>
        </p:nvSpPr>
        <p:spPr>
          <a:xfrm>
            <a:off x="7073901" y="1761282"/>
            <a:ext cx="4856842" cy="3416320"/>
          </a:xfrm>
          <a:prstGeom prst="rect">
            <a:avLst/>
          </a:prstGeom>
          <a:noFill/>
        </p:spPr>
        <p:txBody>
          <a:bodyPr wrap="square">
            <a:spAutoFit/>
          </a:bodyPr>
          <a:lstStyle/>
          <a:p>
            <a:pPr marL="285750" indent="-285750">
              <a:buFontTx/>
              <a:buChar char="-"/>
            </a:pPr>
            <a:r>
              <a:rPr lang="en-US" altLang="ko-KR" dirty="0"/>
              <a:t>We are facing an energy crisis, characterized by expanding demand from the intensifying effects of climate change, modern agriculture, and the exponential growth of global data servers. </a:t>
            </a:r>
          </a:p>
          <a:p>
            <a:pPr marL="285750" indent="-285750">
              <a:buFontTx/>
              <a:buChar char="-"/>
            </a:pPr>
            <a:endParaRPr lang="en-US" altLang="ko-KR" dirty="0"/>
          </a:p>
          <a:p>
            <a:pPr marL="285750" indent="-285750">
              <a:buFontTx/>
              <a:buChar char="-"/>
            </a:pPr>
            <a:r>
              <a:rPr lang="en-US" altLang="ko-KR" dirty="0"/>
              <a:t>To curb consumption, regulatory incentives for energy-efficiency is given. </a:t>
            </a:r>
          </a:p>
          <a:p>
            <a:pPr marL="285750" indent="-285750">
              <a:buFontTx/>
              <a:buChar char="-"/>
            </a:pPr>
            <a:endParaRPr lang="ko-KR" altLang="en-US" dirty="0"/>
          </a:p>
          <a:p>
            <a:pPr marL="285750" indent="-285750">
              <a:buFontTx/>
              <a:buChar char="-"/>
            </a:pPr>
            <a:r>
              <a:rPr lang="en-US" altLang="ko-KR" dirty="0"/>
              <a:t>Precise energy consumption forecasting has become essential</a:t>
            </a:r>
            <a:endParaRPr lang="ko-KR" altLang="en-US" dirty="0"/>
          </a:p>
          <a:p>
            <a:pPr marL="285750" indent="-285750">
              <a:buFontTx/>
              <a:buChar char="-"/>
            </a:pPr>
            <a:endParaRPr lang="ko-KR" altLang="en-US" dirty="0"/>
          </a:p>
        </p:txBody>
      </p:sp>
    </p:spTree>
    <p:extLst>
      <p:ext uri="{BB962C8B-B14F-4D97-AF65-F5344CB8AC3E}">
        <p14:creationId xmlns:p14="http://schemas.microsoft.com/office/powerpoint/2010/main" val="11014266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3C02C-2B6E-4295-4B91-70C84936F32A}"/>
            </a:ext>
          </a:extLst>
        </p:cNvPr>
        <p:cNvGrpSpPr/>
        <p:nvPr/>
      </p:nvGrpSpPr>
      <p:grpSpPr>
        <a:xfrm>
          <a:off x="0" y="0"/>
          <a:ext cx="0" cy="0"/>
          <a:chOff x="0" y="0"/>
          <a:chExt cx="0" cy="0"/>
        </a:xfrm>
      </p:grpSpPr>
      <p:cxnSp>
        <p:nvCxnSpPr>
          <p:cNvPr id="8" name="직선 연결선 7">
            <a:extLst>
              <a:ext uri="{FF2B5EF4-FFF2-40B4-BE49-F238E27FC236}">
                <a16:creationId xmlns:a16="http://schemas.microsoft.com/office/drawing/2014/main" id="{581D590F-D649-65AC-CDF1-15956072E650}"/>
              </a:ext>
            </a:extLst>
          </p:cNvPr>
          <p:cNvCxnSpPr>
            <a:cxnSpLocks/>
          </p:cNvCxnSpPr>
          <p:nvPr/>
        </p:nvCxnSpPr>
        <p:spPr>
          <a:xfrm>
            <a:off x="540640" y="686372"/>
            <a:ext cx="11651360" cy="0"/>
          </a:xfrm>
          <a:prstGeom prst="line">
            <a:avLst/>
          </a:prstGeom>
          <a:ln cap="rnd"/>
        </p:spPr>
        <p:style>
          <a:lnRef idx="2">
            <a:schemeClr val="dk1"/>
          </a:lnRef>
          <a:fillRef idx="0">
            <a:schemeClr val="dk1"/>
          </a:fillRef>
          <a:effectRef idx="1">
            <a:schemeClr val="dk1"/>
          </a:effectRef>
          <a:fontRef idx="minor">
            <a:schemeClr val="tx1"/>
          </a:fontRef>
        </p:style>
      </p:cxnSp>
      <p:sp>
        <p:nvSpPr>
          <p:cNvPr id="10" name="TextBox 9">
            <a:extLst>
              <a:ext uri="{FF2B5EF4-FFF2-40B4-BE49-F238E27FC236}">
                <a16:creationId xmlns:a16="http://schemas.microsoft.com/office/drawing/2014/main" id="{12A448E4-16B9-B755-8A5C-18452B475DFB}"/>
              </a:ext>
            </a:extLst>
          </p:cNvPr>
          <p:cNvSpPr txBox="1"/>
          <p:nvPr/>
        </p:nvSpPr>
        <p:spPr>
          <a:xfrm>
            <a:off x="540638" y="154110"/>
            <a:ext cx="9733662" cy="461665"/>
          </a:xfrm>
          <a:prstGeom prst="rect">
            <a:avLst/>
          </a:prstGeom>
          <a:noFill/>
        </p:spPr>
        <p:txBody>
          <a:bodyPr wrap="square" rtlCol="0">
            <a:spAutoFit/>
          </a:bodyPr>
          <a:lstStyle/>
          <a:p>
            <a:r>
              <a:rPr lang="en-US" altLang="ko-KR" sz="2400" b="1" dirty="0">
                <a:latin typeface="Arial" panose="020B0604020202020204" pitchFamily="34" charset="0"/>
                <a:cs typeface="Arial" panose="020B0604020202020204" pitchFamily="34" charset="0"/>
              </a:rPr>
              <a:t>Challenges</a:t>
            </a:r>
            <a:endParaRPr lang="ko-KR" altLang="en-US" sz="2400" b="1" dirty="0">
              <a:latin typeface="Arial" panose="020B0604020202020204" pitchFamily="34" charset="0"/>
              <a:cs typeface="Arial" panose="020B0604020202020204" pitchFamily="34" charset="0"/>
            </a:endParaRPr>
          </a:p>
        </p:txBody>
      </p:sp>
      <p:sp>
        <p:nvSpPr>
          <p:cNvPr id="45" name="TextBox 44">
            <a:extLst>
              <a:ext uri="{FF2B5EF4-FFF2-40B4-BE49-F238E27FC236}">
                <a16:creationId xmlns:a16="http://schemas.microsoft.com/office/drawing/2014/main" id="{AE6298CF-CAFF-5849-AD70-65B37207D174}"/>
              </a:ext>
            </a:extLst>
          </p:cNvPr>
          <p:cNvSpPr txBox="1"/>
          <p:nvPr/>
        </p:nvSpPr>
        <p:spPr>
          <a:xfrm>
            <a:off x="626268" y="693651"/>
            <a:ext cx="8320222" cy="369332"/>
          </a:xfrm>
          <a:prstGeom prst="rect">
            <a:avLst/>
          </a:prstGeom>
          <a:noFill/>
        </p:spPr>
        <p:txBody>
          <a:bodyPr wrap="square" rtlCol="0">
            <a:spAutoFit/>
          </a:bodyPr>
          <a:lstStyle/>
          <a:p>
            <a:r>
              <a:rPr lang="en-US" altLang="ko-KR" b="1" dirty="0"/>
              <a:t>Need for a unified predictive model</a:t>
            </a:r>
            <a:endParaRPr lang="ko-KR" altLang="en-US" b="1" dirty="0"/>
          </a:p>
        </p:txBody>
      </p:sp>
      <p:sp>
        <p:nvSpPr>
          <p:cNvPr id="5" name="TextBox 4">
            <a:extLst>
              <a:ext uri="{FF2B5EF4-FFF2-40B4-BE49-F238E27FC236}">
                <a16:creationId xmlns:a16="http://schemas.microsoft.com/office/drawing/2014/main" id="{4D68F1C8-2631-6D5B-6A4B-0DBB657312FD}"/>
              </a:ext>
            </a:extLst>
          </p:cNvPr>
          <p:cNvSpPr txBox="1"/>
          <p:nvPr/>
        </p:nvSpPr>
        <p:spPr>
          <a:xfrm>
            <a:off x="6455229" y="2311542"/>
            <a:ext cx="5736771" cy="369332"/>
          </a:xfrm>
          <a:prstGeom prst="rect">
            <a:avLst/>
          </a:prstGeom>
          <a:noFill/>
        </p:spPr>
        <p:txBody>
          <a:bodyPr wrap="square" rtlCol="0">
            <a:spAutoFit/>
          </a:bodyPr>
          <a:lstStyle/>
          <a:p>
            <a:r>
              <a:rPr lang="en-US" altLang="ko-KR" dirty="0"/>
              <a:t>Problem in energy consumption prediction.</a:t>
            </a:r>
            <a:endParaRPr lang="ko-KR" altLang="en-US" dirty="0"/>
          </a:p>
        </p:txBody>
      </p:sp>
      <p:sp>
        <p:nvSpPr>
          <p:cNvPr id="6" name="TextBox 5">
            <a:extLst>
              <a:ext uri="{FF2B5EF4-FFF2-40B4-BE49-F238E27FC236}">
                <a16:creationId xmlns:a16="http://schemas.microsoft.com/office/drawing/2014/main" id="{C71001A5-01E2-AC69-7DF1-A97244E7BBCA}"/>
              </a:ext>
            </a:extLst>
          </p:cNvPr>
          <p:cNvSpPr txBox="1"/>
          <p:nvPr/>
        </p:nvSpPr>
        <p:spPr>
          <a:xfrm>
            <a:off x="6662057" y="2688074"/>
            <a:ext cx="5529943" cy="1754326"/>
          </a:xfrm>
          <a:prstGeom prst="rect">
            <a:avLst/>
          </a:prstGeom>
          <a:noFill/>
        </p:spPr>
        <p:txBody>
          <a:bodyPr wrap="square" rtlCol="0">
            <a:spAutoFit/>
          </a:bodyPr>
          <a:lstStyle/>
          <a:p>
            <a:r>
              <a:rPr lang="en-US" altLang="ko-KR" dirty="0"/>
              <a:t> Current methods of estimation are fragmented and do not scale well. In other words, there is no unified framework that can handle the data with different shapes. Thus, it is hard to estimate the energy predictions for various types of building with different columns of data that can be provided. </a:t>
            </a:r>
            <a:endParaRPr lang="ko-KR" altLang="en-US" dirty="0"/>
          </a:p>
        </p:txBody>
      </p:sp>
      <p:pic>
        <p:nvPicPr>
          <p:cNvPr id="3" name="그림 2">
            <a:extLst>
              <a:ext uri="{FF2B5EF4-FFF2-40B4-BE49-F238E27FC236}">
                <a16:creationId xmlns:a16="http://schemas.microsoft.com/office/drawing/2014/main" id="{D9C4E581-6F04-EB4D-1BF4-A0B4951BE6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0638" y="1712436"/>
            <a:ext cx="5529943" cy="3016332"/>
          </a:xfrm>
          <a:prstGeom prst="rect">
            <a:avLst/>
          </a:prstGeom>
        </p:spPr>
      </p:pic>
    </p:spTree>
    <p:extLst>
      <p:ext uri="{BB962C8B-B14F-4D97-AF65-F5344CB8AC3E}">
        <p14:creationId xmlns:p14="http://schemas.microsoft.com/office/powerpoint/2010/main" val="22889637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B83B3-4DC0-BDAE-2595-A1F0E4C8CD97}"/>
            </a:ext>
          </a:extLst>
        </p:cNvPr>
        <p:cNvGrpSpPr/>
        <p:nvPr/>
      </p:nvGrpSpPr>
      <p:grpSpPr>
        <a:xfrm>
          <a:off x="0" y="0"/>
          <a:ext cx="0" cy="0"/>
          <a:chOff x="0" y="0"/>
          <a:chExt cx="0" cy="0"/>
        </a:xfrm>
      </p:grpSpPr>
      <p:cxnSp>
        <p:nvCxnSpPr>
          <p:cNvPr id="8" name="직선 연결선 7">
            <a:extLst>
              <a:ext uri="{FF2B5EF4-FFF2-40B4-BE49-F238E27FC236}">
                <a16:creationId xmlns:a16="http://schemas.microsoft.com/office/drawing/2014/main" id="{88668B46-CF10-D9C6-261E-3F700EEE634D}"/>
              </a:ext>
            </a:extLst>
          </p:cNvPr>
          <p:cNvCxnSpPr>
            <a:cxnSpLocks/>
          </p:cNvCxnSpPr>
          <p:nvPr/>
        </p:nvCxnSpPr>
        <p:spPr>
          <a:xfrm>
            <a:off x="540640" y="686372"/>
            <a:ext cx="11651360" cy="0"/>
          </a:xfrm>
          <a:prstGeom prst="line">
            <a:avLst/>
          </a:prstGeom>
          <a:ln cap="rnd"/>
        </p:spPr>
        <p:style>
          <a:lnRef idx="2">
            <a:schemeClr val="dk1"/>
          </a:lnRef>
          <a:fillRef idx="0">
            <a:schemeClr val="dk1"/>
          </a:fillRef>
          <a:effectRef idx="1">
            <a:schemeClr val="dk1"/>
          </a:effectRef>
          <a:fontRef idx="minor">
            <a:schemeClr val="tx1"/>
          </a:fontRef>
        </p:style>
      </p:cxnSp>
      <p:sp>
        <p:nvSpPr>
          <p:cNvPr id="10" name="TextBox 9">
            <a:extLst>
              <a:ext uri="{FF2B5EF4-FFF2-40B4-BE49-F238E27FC236}">
                <a16:creationId xmlns:a16="http://schemas.microsoft.com/office/drawing/2014/main" id="{0CFE2849-39DE-58ED-F810-C0319E6066E8}"/>
              </a:ext>
            </a:extLst>
          </p:cNvPr>
          <p:cNvSpPr txBox="1"/>
          <p:nvPr/>
        </p:nvSpPr>
        <p:spPr>
          <a:xfrm>
            <a:off x="540638" y="154110"/>
            <a:ext cx="9733662" cy="461665"/>
          </a:xfrm>
          <a:prstGeom prst="rect">
            <a:avLst/>
          </a:prstGeom>
          <a:noFill/>
        </p:spPr>
        <p:txBody>
          <a:bodyPr wrap="square" rtlCol="0">
            <a:spAutoFit/>
          </a:bodyPr>
          <a:lstStyle/>
          <a:p>
            <a:r>
              <a:rPr lang="en-US" altLang="ko-KR" sz="2400" b="1" dirty="0">
                <a:latin typeface="Arial" panose="020B0604020202020204" pitchFamily="34" charset="0"/>
                <a:cs typeface="Arial" panose="020B0604020202020204" pitchFamily="34" charset="0"/>
              </a:rPr>
              <a:t>Approach </a:t>
            </a:r>
            <a:endParaRPr lang="ko-KR" altLang="en-US" sz="2400" b="1" dirty="0">
              <a:latin typeface="Arial" panose="020B0604020202020204" pitchFamily="34" charset="0"/>
              <a:cs typeface="Arial" panose="020B0604020202020204" pitchFamily="34" charset="0"/>
            </a:endParaRPr>
          </a:p>
        </p:txBody>
      </p:sp>
      <p:sp>
        <p:nvSpPr>
          <p:cNvPr id="45" name="TextBox 44">
            <a:extLst>
              <a:ext uri="{FF2B5EF4-FFF2-40B4-BE49-F238E27FC236}">
                <a16:creationId xmlns:a16="http://schemas.microsoft.com/office/drawing/2014/main" id="{441A4B37-8D67-1D00-BEA2-ED0443631341}"/>
              </a:ext>
            </a:extLst>
          </p:cNvPr>
          <p:cNvSpPr txBox="1"/>
          <p:nvPr/>
        </p:nvSpPr>
        <p:spPr>
          <a:xfrm>
            <a:off x="626268" y="693651"/>
            <a:ext cx="8320222" cy="369332"/>
          </a:xfrm>
          <a:prstGeom prst="rect">
            <a:avLst/>
          </a:prstGeom>
          <a:noFill/>
        </p:spPr>
        <p:txBody>
          <a:bodyPr wrap="square" rtlCol="0">
            <a:spAutoFit/>
          </a:bodyPr>
          <a:lstStyle/>
          <a:p>
            <a:r>
              <a:rPr lang="en-US" altLang="ko-KR" b="1" dirty="0"/>
              <a:t>Design of predictive model</a:t>
            </a:r>
            <a:endParaRPr lang="ko-KR" altLang="en-US" b="1" dirty="0"/>
          </a:p>
        </p:txBody>
      </p:sp>
      <p:sp>
        <p:nvSpPr>
          <p:cNvPr id="7" name="TextBox 6">
            <a:extLst>
              <a:ext uri="{FF2B5EF4-FFF2-40B4-BE49-F238E27FC236}">
                <a16:creationId xmlns:a16="http://schemas.microsoft.com/office/drawing/2014/main" id="{35D2F61B-48D2-D62B-DD7C-5242E1CC2FE8}"/>
              </a:ext>
            </a:extLst>
          </p:cNvPr>
          <p:cNvSpPr txBox="1"/>
          <p:nvPr/>
        </p:nvSpPr>
        <p:spPr>
          <a:xfrm>
            <a:off x="653141" y="3744684"/>
            <a:ext cx="7870373" cy="369332"/>
          </a:xfrm>
          <a:prstGeom prst="rect">
            <a:avLst/>
          </a:prstGeom>
          <a:noFill/>
        </p:spPr>
        <p:txBody>
          <a:bodyPr wrap="square" rtlCol="0">
            <a:spAutoFit/>
          </a:bodyPr>
          <a:lstStyle/>
          <a:p>
            <a:r>
              <a:rPr lang="en-US" altLang="ko-KR" dirty="0"/>
              <a:t>Our approach to predict the building’s energy consumption.</a:t>
            </a:r>
            <a:endParaRPr lang="ko-KR" altLang="en-US" dirty="0"/>
          </a:p>
        </p:txBody>
      </p:sp>
      <p:sp>
        <p:nvSpPr>
          <p:cNvPr id="9" name="TextBox 8">
            <a:extLst>
              <a:ext uri="{FF2B5EF4-FFF2-40B4-BE49-F238E27FC236}">
                <a16:creationId xmlns:a16="http://schemas.microsoft.com/office/drawing/2014/main" id="{3EC10684-A8E3-840D-7816-238D63167347}"/>
              </a:ext>
            </a:extLst>
          </p:cNvPr>
          <p:cNvSpPr txBox="1"/>
          <p:nvPr/>
        </p:nvSpPr>
        <p:spPr>
          <a:xfrm>
            <a:off x="1186542" y="4253411"/>
            <a:ext cx="9993088" cy="1754326"/>
          </a:xfrm>
          <a:prstGeom prst="rect">
            <a:avLst/>
          </a:prstGeom>
          <a:noFill/>
        </p:spPr>
        <p:txBody>
          <a:bodyPr wrap="square" rtlCol="0">
            <a:spAutoFit/>
          </a:bodyPr>
          <a:lstStyle/>
          <a:p>
            <a:r>
              <a:rPr lang="en-US" altLang="ko-KR" dirty="0"/>
              <a:t> We are dealing with tabulated data with missing fields with time series information (thermal </a:t>
            </a:r>
            <a:r>
              <a:rPr lang="en-US" altLang="ko-KR" dirty="0" err="1"/>
              <a:t>intertia</a:t>
            </a:r>
            <a:r>
              <a:rPr lang="en-US" altLang="ko-KR" dirty="0"/>
              <a:t>), using tree-based models will be beneficial. Then, ensemble the tree models to predict the energy consumption.</a:t>
            </a:r>
          </a:p>
          <a:p>
            <a:r>
              <a:rPr lang="en-US" altLang="ko-KR" dirty="0"/>
              <a:t>Pre-process 1) Statistically pruning 2) Synthetic imputation &amp; solar alignment </a:t>
            </a:r>
          </a:p>
          <a:p>
            <a:r>
              <a:rPr lang="en-US" altLang="ko-KR" dirty="0"/>
              <a:t>Feature engineering 1) Lagged trajectories &amp; target encoding 2) Thermodynamic proxy variables</a:t>
            </a:r>
          </a:p>
          <a:p>
            <a:r>
              <a:rPr lang="en-US" altLang="ko-KR" dirty="0"/>
              <a:t>Model choice : Light GBM / </a:t>
            </a:r>
            <a:r>
              <a:rPr lang="en-US" altLang="ko-KR" dirty="0" err="1"/>
              <a:t>XGBoost</a:t>
            </a:r>
            <a:r>
              <a:rPr lang="en-US" altLang="ko-KR" dirty="0"/>
              <a:t> ensemble. </a:t>
            </a:r>
            <a:endParaRPr lang="ko-KR" altLang="en-US" dirty="0"/>
          </a:p>
        </p:txBody>
      </p:sp>
    </p:spTree>
    <p:extLst>
      <p:ext uri="{BB962C8B-B14F-4D97-AF65-F5344CB8AC3E}">
        <p14:creationId xmlns:p14="http://schemas.microsoft.com/office/powerpoint/2010/main" val="21744228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2F9EDB-5601-E7E6-37BC-03F47AFB1620}"/>
            </a:ext>
          </a:extLst>
        </p:cNvPr>
        <p:cNvGrpSpPr/>
        <p:nvPr/>
      </p:nvGrpSpPr>
      <p:grpSpPr>
        <a:xfrm>
          <a:off x="0" y="0"/>
          <a:ext cx="0" cy="0"/>
          <a:chOff x="0" y="0"/>
          <a:chExt cx="0" cy="0"/>
        </a:xfrm>
      </p:grpSpPr>
      <p:cxnSp>
        <p:nvCxnSpPr>
          <p:cNvPr id="8" name="직선 연결선 7">
            <a:extLst>
              <a:ext uri="{FF2B5EF4-FFF2-40B4-BE49-F238E27FC236}">
                <a16:creationId xmlns:a16="http://schemas.microsoft.com/office/drawing/2014/main" id="{51E3A615-BD26-12B2-4900-C9BED115EC5A}"/>
              </a:ext>
            </a:extLst>
          </p:cNvPr>
          <p:cNvCxnSpPr>
            <a:cxnSpLocks/>
          </p:cNvCxnSpPr>
          <p:nvPr/>
        </p:nvCxnSpPr>
        <p:spPr>
          <a:xfrm>
            <a:off x="540640" y="686372"/>
            <a:ext cx="11651360" cy="0"/>
          </a:xfrm>
          <a:prstGeom prst="line">
            <a:avLst/>
          </a:prstGeom>
          <a:ln cap="rnd"/>
        </p:spPr>
        <p:style>
          <a:lnRef idx="2">
            <a:schemeClr val="dk1"/>
          </a:lnRef>
          <a:fillRef idx="0">
            <a:schemeClr val="dk1"/>
          </a:fillRef>
          <a:effectRef idx="1">
            <a:schemeClr val="dk1"/>
          </a:effectRef>
          <a:fontRef idx="minor">
            <a:schemeClr val="tx1"/>
          </a:fontRef>
        </p:style>
      </p:cxnSp>
      <p:sp>
        <p:nvSpPr>
          <p:cNvPr id="10" name="TextBox 9">
            <a:extLst>
              <a:ext uri="{FF2B5EF4-FFF2-40B4-BE49-F238E27FC236}">
                <a16:creationId xmlns:a16="http://schemas.microsoft.com/office/drawing/2014/main" id="{CE8B1FBE-A8C5-D8E6-5258-601E1F96D469}"/>
              </a:ext>
            </a:extLst>
          </p:cNvPr>
          <p:cNvSpPr txBox="1"/>
          <p:nvPr/>
        </p:nvSpPr>
        <p:spPr>
          <a:xfrm>
            <a:off x="540638" y="154110"/>
            <a:ext cx="9733662" cy="461665"/>
          </a:xfrm>
          <a:prstGeom prst="rect">
            <a:avLst/>
          </a:prstGeom>
          <a:noFill/>
        </p:spPr>
        <p:txBody>
          <a:bodyPr wrap="square" rtlCol="0">
            <a:spAutoFit/>
          </a:bodyPr>
          <a:lstStyle/>
          <a:p>
            <a:r>
              <a:rPr lang="en-US" altLang="ko-KR" sz="2400" b="1" dirty="0">
                <a:latin typeface="Arial" panose="020B0604020202020204" pitchFamily="34" charset="0"/>
                <a:cs typeface="Arial" panose="020B0604020202020204" pitchFamily="34" charset="0"/>
              </a:rPr>
              <a:t>Pre-processing data </a:t>
            </a:r>
            <a:endParaRPr lang="ko-KR" altLang="en-US" sz="2400" b="1" dirty="0">
              <a:latin typeface="Arial" panose="020B0604020202020204" pitchFamily="34" charset="0"/>
              <a:cs typeface="Arial" panose="020B0604020202020204" pitchFamily="34" charset="0"/>
            </a:endParaRPr>
          </a:p>
        </p:txBody>
      </p:sp>
      <p:sp>
        <p:nvSpPr>
          <p:cNvPr id="45" name="TextBox 44">
            <a:extLst>
              <a:ext uri="{FF2B5EF4-FFF2-40B4-BE49-F238E27FC236}">
                <a16:creationId xmlns:a16="http://schemas.microsoft.com/office/drawing/2014/main" id="{F6288123-DA84-5DCD-1FF0-FBD476DDF6CE}"/>
              </a:ext>
            </a:extLst>
          </p:cNvPr>
          <p:cNvSpPr txBox="1"/>
          <p:nvPr/>
        </p:nvSpPr>
        <p:spPr>
          <a:xfrm>
            <a:off x="626268" y="693651"/>
            <a:ext cx="8320222" cy="369332"/>
          </a:xfrm>
          <a:prstGeom prst="rect">
            <a:avLst/>
          </a:prstGeom>
          <a:noFill/>
        </p:spPr>
        <p:txBody>
          <a:bodyPr wrap="square" rtlCol="0">
            <a:spAutoFit/>
          </a:bodyPr>
          <a:lstStyle/>
          <a:p>
            <a:r>
              <a:rPr lang="en-US" altLang="ko-KR" b="1" dirty="0"/>
              <a:t>Statistical data pruning </a:t>
            </a:r>
            <a:endParaRPr lang="ko-KR" altLang="en-US" b="1" dirty="0"/>
          </a:p>
        </p:txBody>
      </p:sp>
      <p:sp>
        <p:nvSpPr>
          <p:cNvPr id="7" name="TextBox 6">
            <a:extLst>
              <a:ext uri="{FF2B5EF4-FFF2-40B4-BE49-F238E27FC236}">
                <a16:creationId xmlns:a16="http://schemas.microsoft.com/office/drawing/2014/main" id="{CAC14D7E-E4F7-4664-6DF3-36362E592F24}"/>
              </a:ext>
            </a:extLst>
          </p:cNvPr>
          <p:cNvSpPr txBox="1"/>
          <p:nvPr/>
        </p:nvSpPr>
        <p:spPr>
          <a:xfrm>
            <a:off x="653141" y="3744684"/>
            <a:ext cx="7870373" cy="369332"/>
          </a:xfrm>
          <a:prstGeom prst="rect">
            <a:avLst/>
          </a:prstGeom>
          <a:noFill/>
        </p:spPr>
        <p:txBody>
          <a:bodyPr wrap="square" rtlCol="0">
            <a:spAutoFit/>
          </a:bodyPr>
          <a:lstStyle/>
          <a:p>
            <a:r>
              <a:rPr lang="en-US" altLang="ko-KR" dirty="0"/>
              <a:t>Our approach to predict the building’s energy consumption.</a:t>
            </a:r>
            <a:endParaRPr lang="ko-KR" altLang="en-US" dirty="0"/>
          </a:p>
        </p:txBody>
      </p:sp>
      <p:sp>
        <p:nvSpPr>
          <p:cNvPr id="9" name="TextBox 8">
            <a:extLst>
              <a:ext uri="{FF2B5EF4-FFF2-40B4-BE49-F238E27FC236}">
                <a16:creationId xmlns:a16="http://schemas.microsoft.com/office/drawing/2014/main" id="{24247E57-0D29-C35E-F784-1D8525CD3547}"/>
              </a:ext>
            </a:extLst>
          </p:cNvPr>
          <p:cNvSpPr txBox="1"/>
          <p:nvPr/>
        </p:nvSpPr>
        <p:spPr>
          <a:xfrm>
            <a:off x="1186542" y="4253411"/>
            <a:ext cx="9993088" cy="1754326"/>
          </a:xfrm>
          <a:prstGeom prst="rect">
            <a:avLst/>
          </a:prstGeom>
          <a:noFill/>
        </p:spPr>
        <p:txBody>
          <a:bodyPr wrap="square" rtlCol="0">
            <a:spAutoFit/>
          </a:bodyPr>
          <a:lstStyle/>
          <a:p>
            <a:r>
              <a:rPr lang="en-US" altLang="ko-KR" dirty="0"/>
              <a:t> We are dealing with tabulated data with missing fields with time series information (thermal </a:t>
            </a:r>
            <a:r>
              <a:rPr lang="en-US" altLang="ko-KR" dirty="0" err="1"/>
              <a:t>intertia</a:t>
            </a:r>
            <a:r>
              <a:rPr lang="en-US" altLang="ko-KR" dirty="0"/>
              <a:t>), using tree-based models will be beneficial. Then, ensemble the tree models to predict the energy consumption.</a:t>
            </a:r>
          </a:p>
          <a:p>
            <a:r>
              <a:rPr lang="en-US" altLang="ko-KR" dirty="0"/>
              <a:t>Pre-process 1) Statistically pruning 2) Synthetic imputation &amp; solar alignment </a:t>
            </a:r>
          </a:p>
          <a:p>
            <a:r>
              <a:rPr lang="en-US" altLang="ko-KR" dirty="0"/>
              <a:t>Feature engineering 1) Lagged trajectories &amp; target encoding 2) Thermodynamic proxy variables</a:t>
            </a:r>
          </a:p>
          <a:p>
            <a:r>
              <a:rPr lang="en-US" altLang="ko-KR" dirty="0"/>
              <a:t>Model choice : Light GBM / </a:t>
            </a:r>
            <a:r>
              <a:rPr lang="en-US" altLang="ko-KR" dirty="0" err="1"/>
              <a:t>XGBoost</a:t>
            </a:r>
            <a:r>
              <a:rPr lang="en-US" altLang="ko-KR" dirty="0"/>
              <a:t> ensemble. </a:t>
            </a:r>
            <a:endParaRPr lang="ko-KR" altLang="en-US" dirty="0"/>
          </a:p>
        </p:txBody>
      </p:sp>
    </p:spTree>
    <p:extLst>
      <p:ext uri="{BB962C8B-B14F-4D97-AF65-F5344CB8AC3E}">
        <p14:creationId xmlns:p14="http://schemas.microsoft.com/office/powerpoint/2010/main" val="35778365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24DA9-F04D-42C5-D979-6AE7CB299D65}"/>
            </a:ext>
          </a:extLst>
        </p:cNvPr>
        <p:cNvGrpSpPr/>
        <p:nvPr/>
      </p:nvGrpSpPr>
      <p:grpSpPr>
        <a:xfrm>
          <a:off x="0" y="0"/>
          <a:ext cx="0" cy="0"/>
          <a:chOff x="0" y="0"/>
          <a:chExt cx="0" cy="0"/>
        </a:xfrm>
      </p:grpSpPr>
      <p:cxnSp>
        <p:nvCxnSpPr>
          <p:cNvPr id="8" name="직선 연결선 7">
            <a:extLst>
              <a:ext uri="{FF2B5EF4-FFF2-40B4-BE49-F238E27FC236}">
                <a16:creationId xmlns:a16="http://schemas.microsoft.com/office/drawing/2014/main" id="{B3D920C2-FF6A-8E94-9BFE-D6DFE98E1AC2}"/>
              </a:ext>
            </a:extLst>
          </p:cNvPr>
          <p:cNvCxnSpPr>
            <a:cxnSpLocks/>
          </p:cNvCxnSpPr>
          <p:nvPr/>
        </p:nvCxnSpPr>
        <p:spPr>
          <a:xfrm>
            <a:off x="540640" y="686372"/>
            <a:ext cx="11651360" cy="0"/>
          </a:xfrm>
          <a:prstGeom prst="line">
            <a:avLst/>
          </a:prstGeom>
          <a:ln cap="rnd"/>
        </p:spPr>
        <p:style>
          <a:lnRef idx="2">
            <a:schemeClr val="dk1"/>
          </a:lnRef>
          <a:fillRef idx="0">
            <a:schemeClr val="dk1"/>
          </a:fillRef>
          <a:effectRef idx="1">
            <a:schemeClr val="dk1"/>
          </a:effectRef>
          <a:fontRef idx="minor">
            <a:schemeClr val="tx1"/>
          </a:fontRef>
        </p:style>
      </p:cxnSp>
      <p:sp>
        <p:nvSpPr>
          <p:cNvPr id="10" name="TextBox 9">
            <a:extLst>
              <a:ext uri="{FF2B5EF4-FFF2-40B4-BE49-F238E27FC236}">
                <a16:creationId xmlns:a16="http://schemas.microsoft.com/office/drawing/2014/main" id="{83F1D826-2C40-F38E-F7D0-A1FBC1E4A1E2}"/>
              </a:ext>
            </a:extLst>
          </p:cNvPr>
          <p:cNvSpPr txBox="1"/>
          <p:nvPr/>
        </p:nvSpPr>
        <p:spPr>
          <a:xfrm>
            <a:off x="540638" y="154110"/>
            <a:ext cx="9733662" cy="461665"/>
          </a:xfrm>
          <a:prstGeom prst="rect">
            <a:avLst/>
          </a:prstGeom>
          <a:noFill/>
        </p:spPr>
        <p:txBody>
          <a:bodyPr wrap="square" rtlCol="0">
            <a:spAutoFit/>
          </a:bodyPr>
          <a:lstStyle/>
          <a:p>
            <a:r>
              <a:rPr lang="en-US" altLang="ko-KR" sz="2400" b="1" dirty="0">
                <a:latin typeface="Arial" panose="020B0604020202020204" pitchFamily="34" charset="0"/>
                <a:cs typeface="Arial" panose="020B0604020202020204" pitchFamily="34" charset="0"/>
              </a:rPr>
              <a:t>Feature engineering </a:t>
            </a:r>
            <a:endParaRPr lang="ko-KR" altLang="en-US" sz="2400" b="1" dirty="0">
              <a:latin typeface="Arial" panose="020B0604020202020204" pitchFamily="34" charset="0"/>
              <a:cs typeface="Arial" panose="020B0604020202020204" pitchFamily="34" charset="0"/>
            </a:endParaRPr>
          </a:p>
        </p:txBody>
      </p:sp>
      <p:sp>
        <p:nvSpPr>
          <p:cNvPr id="45" name="TextBox 44">
            <a:extLst>
              <a:ext uri="{FF2B5EF4-FFF2-40B4-BE49-F238E27FC236}">
                <a16:creationId xmlns:a16="http://schemas.microsoft.com/office/drawing/2014/main" id="{E7A9B9C2-8E57-B26D-D216-7DA34A580D7F}"/>
              </a:ext>
            </a:extLst>
          </p:cNvPr>
          <p:cNvSpPr txBox="1"/>
          <p:nvPr/>
        </p:nvSpPr>
        <p:spPr>
          <a:xfrm>
            <a:off x="626268" y="693651"/>
            <a:ext cx="8320222" cy="369332"/>
          </a:xfrm>
          <a:prstGeom prst="rect">
            <a:avLst/>
          </a:prstGeom>
          <a:noFill/>
        </p:spPr>
        <p:txBody>
          <a:bodyPr wrap="square" rtlCol="0">
            <a:spAutoFit/>
          </a:bodyPr>
          <a:lstStyle/>
          <a:p>
            <a:r>
              <a:rPr lang="en-US" altLang="ko-KR" b="1" dirty="0"/>
              <a:t>Lagged trajectories</a:t>
            </a:r>
            <a:endParaRPr lang="ko-KR" altLang="en-US" b="1" dirty="0"/>
          </a:p>
        </p:txBody>
      </p:sp>
      <p:sp>
        <p:nvSpPr>
          <p:cNvPr id="7" name="TextBox 6">
            <a:extLst>
              <a:ext uri="{FF2B5EF4-FFF2-40B4-BE49-F238E27FC236}">
                <a16:creationId xmlns:a16="http://schemas.microsoft.com/office/drawing/2014/main" id="{E6D6DAD8-895A-4136-7E5C-653CB29CFF37}"/>
              </a:ext>
            </a:extLst>
          </p:cNvPr>
          <p:cNvSpPr txBox="1"/>
          <p:nvPr/>
        </p:nvSpPr>
        <p:spPr>
          <a:xfrm>
            <a:off x="653141" y="3744684"/>
            <a:ext cx="7870373" cy="369332"/>
          </a:xfrm>
          <a:prstGeom prst="rect">
            <a:avLst/>
          </a:prstGeom>
          <a:noFill/>
        </p:spPr>
        <p:txBody>
          <a:bodyPr wrap="square" rtlCol="0">
            <a:spAutoFit/>
          </a:bodyPr>
          <a:lstStyle/>
          <a:p>
            <a:r>
              <a:rPr lang="en-US" altLang="ko-KR" dirty="0"/>
              <a:t>Our approach to predict the building’s energy consumption.</a:t>
            </a:r>
            <a:endParaRPr lang="ko-KR" altLang="en-US" dirty="0"/>
          </a:p>
        </p:txBody>
      </p:sp>
      <p:sp>
        <p:nvSpPr>
          <p:cNvPr id="9" name="TextBox 8">
            <a:extLst>
              <a:ext uri="{FF2B5EF4-FFF2-40B4-BE49-F238E27FC236}">
                <a16:creationId xmlns:a16="http://schemas.microsoft.com/office/drawing/2014/main" id="{13CA71E4-FC5A-1BC8-D65C-8EF6E441066A}"/>
              </a:ext>
            </a:extLst>
          </p:cNvPr>
          <p:cNvSpPr txBox="1"/>
          <p:nvPr/>
        </p:nvSpPr>
        <p:spPr>
          <a:xfrm>
            <a:off x="1186542" y="4253411"/>
            <a:ext cx="9993088" cy="1754326"/>
          </a:xfrm>
          <a:prstGeom prst="rect">
            <a:avLst/>
          </a:prstGeom>
          <a:noFill/>
        </p:spPr>
        <p:txBody>
          <a:bodyPr wrap="square" rtlCol="0">
            <a:spAutoFit/>
          </a:bodyPr>
          <a:lstStyle/>
          <a:p>
            <a:r>
              <a:rPr lang="en-US" altLang="ko-KR" dirty="0"/>
              <a:t> We are dealing with tabulated data with missing fields with time series information (thermal </a:t>
            </a:r>
            <a:r>
              <a:rPr lang="en-US" altLang="ko-KR" dirty="0" err="1"/>
              <a:t>intertia</a:t>
            </a:r>
            <a:r>
              <a:rPr lang="en-US" altLang="ko-KR" dirty="0"/>
              <a:t>), using tree-based models will be beneficial. Then, ensemble the tree models to predict the energy consumption.</a:t>
            </a:r>
          </a:p>
          <a:p>
            <a:r>
              <a:rPr lang="en-US" altLang="ko-KR" dirty="0"/>
              <a:t>Pre-process 1) Statistically pruning 2) Synthetic imputation &amp; solar alignment </a:t>
            </a:r>
          </a:p>
          <a:p>
            <a:r>
              <a:rPr lang="en-US" altLang="ko-KR" dirty="0"/>
              <a:t>Feature engineering 1) Lagged trajectories &amp; target encoding 2) Thermodynamic proxy variables</a:t>
            </a:r>
          </a:p>
          <a:p>
            <a:r>
              <a:rPr lang="en-US" altLang="ko-KR" dirty="0"/>
              <a:t>Model choice : Light GBM / </a:t>
            </a:r>
            <a:r>
              <a:rPr lang="en-US" altLang="ko-KR" dirty="0" err="1"/>
              <a:t>XGBoost</a:t>
            </a:r>
            <a:r>
              <a:rPr lang="en-US" altLang="ko-KR" dirty="0"/>
              <a:t> ensemble. </a:t>
            </a:r>
            <a:endParaRPr lang="ko-KR" altLang="en-US" dirty="0"/>
          </a:p>
        </p:txBody>
      </p:sp>
    </p:spTree>
    <p:extLst>
      <p:ext uri="{BB962C8B-B14F-4D97-AF65-F5344CB8AC3E}">
        <p14:creationId xmlns:p14="http://schemas.microsoft.com/office/powerpoint/2010/main" val="11872357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567728-48A8-6807-2CCA-BC8C7CFD2375}"/>
            </a:ext>
          </a:extLst>
        </p:cNvPr>
        <p:cNvGrpSpPr/>
        <p:nvPr/>
      </p:nvGrpSpPr>
      <p:grpSpPr>
        <a:xfrm>
          <a:off x="0" y="0"/>
          <a:ext cx="0" cy="0"/>
          <a:chOff x="0" y="0"/>
          <a:chExt cx="0" cy="0"/>
        </a:xfrm>
      </p:grpSpPr>
      <p:cxnSp>
        <p:nvCxnSpPr>
          <p:cNvPr id="8" name="직선 연결선 7">
            <a:extLst>
              <a:ext uri="{FF2B5EF4-FFF2-40B4-BE49-F238E27FC236}">
                <a16:creationId xmlns:a16="http://schemas.microsoft.com/office/drawing/2014/main" id="{3EB0B346-718B-F374-09F7-D38BF7F8E6E7}"/>
              </a:ext>
            </a:extLst>
          </p:cNvPr>
          <p:cNvCxnSpPr>
            <a:cxnSpLocks/>
          </p:cNvCxnSpPr>
          <p:nvPr/>
        </p:nvCxnSpPr>
        <p:spPr>
          <a:xfrm>
            <a:off x="540640" y="686372"/>
            <a:ext cx="11651360" cy="0"/>
          </a:xfrm>
          <a:prstGeom prst="line">
            <a:avLst/>
          </a:prstGeom>
          <a:ln cap="rnd"/>
        </p:spPr>
        <p:style>
          <a:lnRef idx="2">
            <a:schemeClr val="dk1"/>
          </a:lnRef>
          <a:fillRef idx="0">
            <a:schemeClr val="dk1"/>
          </a:fillRef>
          <a:effectRef idx="1">
            <a:schemeClr val="dk1"/>
          </a:effectRef>
          <a:fontRef idx="minor">
            <a:schemeClr val="tx1"/>
          </a:fontRef>
        </p:style>
      </p:cxnSp>
      <p:sp>
        <p:nvSpPr>
          <p:cNvPr id="10" name="TextBox 9">
            <a:extLst>
              <a:ext uri="{FF2B5EF4-FFF2-40B4-BE49-F238E27FC236}">
                <a16:creationId xmlns:a16="http://schemas.microsoft.com/office/drawing/2014/main" id="{109D348E-AD21-D3B2-DA15-4CD39F7672C3}"/>
              </a:ext>
            </a:extLst>
          </p:cNvPr>
          <p:cNvSpPr txBox="1"/>
          <p:nvPr/>
        </p:nvSpPr>
        <p:spPr>
          <a:xfrm>
            <a:off x="540638" y="154110"/>
            <a:ext cx="9733662" cy="461665"/>
          </a:xfrm>
          <a:prstGeom prst="rect">
            <a:avLst/>
          </a:prstGeom>
          <a:noFill/>
        </p:spPr>
        <p:txBody>
          <a:bodyPr wrap="square" rtlCol="0">
            <a:spAutoFit/>
          </a:bodyPr>
          <a:lstStyle/>
          <a:p>
            <a:r>
              <a:rPr lang="en-US" altLang="ko-KR" sz="2400" b="1" dirty="0">
                <a:latin typeface="Arial" panose="020B0604020202020204" pitchFamily="34" charset="0"/>
                <a:cs typeface="Arial" panose="020B0604020202020204" pitchFamily="34" charset="0"/>
              </a:rPr>
              <a:t>Model design</a:t>
            </a:r>
            <a:endParaRPr lang="ko-KR" altLang="en-US" sz="2400" b="1" dirty="0">
              <a:latin typeface="Arial" panose="020B0604020202020204" pitchFamily="34" charset="0"/>
              <a:cs typeface="Arial" panose="020B0604020202020204" pitchFamily="34" charset="0"/>
            </a:endParaRPr>
          </a:p>
        </p:txBody>
      </p:sp>
      <p:sp>
        <p:nvSpPr>
          <p:cNvPr id="45" name="TextBox 44">
            <a:extLst>
              <a:ext uri="{FF2B5EF4-FFF2-40B4-BE49-F238E27FC236}">
                <a16:creationId xmlns:a16="http://schemas.microsoft.com/office/drawing/2014/main" id="{9E3EE515-1546-5CB2-67E8-4B19A1834FB2}"/>
              </a:ext>
            </a:extLst>
          </p:cNvPr>
          <p:cNvSpPr txBox="1"/>
          <p:nvPr/>
        </p:nvSpPr>
        <p:spPr>
          <a:xfrm>
            <a:off x="626268" y="693651"/>
            <a:ext cx="8320222" cy="369332"/>
          </a:xfrm>
          <a:prstGeom prst="rect">
            <a:avLst/>
          </a:prstGeom>
          <a:noFill/>
        </p:spPr>
        <p:txBody>
          <a:bodyPr wrap="square" rtlCol="0">
            <a:spAutoFit/>
          </a:bodyPr>
          <a:lstStyle/>
          <a:p>
            <a:r>
              <a:rPr lang="en-US" altLang="ko-KR" b="1" dirty="0"/>
              <a:t>Ensemble of decision-tree models</a:t>
            </a:r>
            <a:endParaRPr lang="ko-KR" altLang="en-US" b="1" dirty="0"/>
          </a:p>
        </p:txBody>
      </p:sp>
      <p:sp>
        <p:nvSpPr>
          <p:cNvPr id="7" name="TextBox 6">
            <a:extLst>
              <a:ext uri="{FF2B5EF4-FFF2-40B4-BE49-F238E27FC236}">
                <a16:creationId xmlns:a16="http://schemas.microsoft.com/office/drawing/2014/main" id="{3F8A7707-8513-75BE-AE94-35DB2EE1399F}"/>
              </a:ext>
            </a:extLst>
          </p:cNvPr>
          <p:cNvSpPr txBox="1"/>
          <p:nvPr/>
        </p:nvSpPr>
        <p:spPr>
          <a:xfrm>
            <a:off x="653141" y="3744684"/>
            <a:ext cx="7870373" cy="369332"/>
          </a:xfrm>
          <a:prstGeom prst="rect">
            <a:avLst/>
          </a:prstGeom>
          <a:noFill/>
        </p:spPr>
        <p:txBody>
          <a:bodyPr wrap="square" rtlCol="0">
            <a:spAutoFit/>
          </a:bodyPr>
          <a:lstStyle/>
          <a:p>
            <a:r>
              <a:rPr lang="en-US" altLang="ko-KR" dirty="0"/>
              <a:t>Our approach to predict the building’s energy consumption.</a:t>
            </a:r>
            <a:endParaRPr lang="ko-KR" altLang="en-US" dirty="0"/>
          </a:p>
        </p:txBody>
      </p:sp>
      <p:sp>
        <p:nvSpPr>
          <p:cNvPr id="9" name="TextBox 8">
            <a:extLst>
              <a:ext uri="{FF2B5EF4-FFF2-40B4-BE49-F238E27FC236}">
                <a16:creationId xmlns:a16="http://schemas.microsoft.com/office/drawing/2014/main" id="{F5CEB9DB-DE11-E8C0-798D-FC151CDE01CA}"/>
              </a:ext>
            </a:extLst>
          </p:cNvPr>
          <p:cNvSpPr txBox="1"/>
          <p:nvPr/>
        </p:nvSpPr>
        <p:spPr>
          <a:xfrm>
            <a:off x="1186542" y="4253411"/>
            <a:ext cx="9993088" cy="1754326"/>
          </a:xfrm>
          <a:prstGeom prst="rect">
            <a:avLst/>
          </a:prstGeom>
          <a:noFill/>
        </p:spPr>
        <p:txBody>
          <a:bodyPr wrap="square" rtlCol="0">
            <a:spAutoFit/>
          </a:bodyPr>
          <a:lstStyle/>
          <a:p>
            <a:r>
              <a:rPr lang="en-US" altLang="ko-KR" dirty="0"/>
              <a:t> We are dealing with tabulated data with missing fields with time series information (thermal </a:t>
            </a:r>
            <a:r>
              <a:rPr lang="en-US" altLang="ko-KR" dirty="0" err="1"/>
              <a:t>intertia</a:t>
            </a:r>
            <a:r>
              <a:rPr lang="en-US" altLang="ko-KR" dirty="0"/>
              <a:t>), using tree-based models will be beneficial. Then, ensemble the tree models to predict the energy consumption.</a:t>
            </a:r>
          </a:p>
          <a:p>
            <a:r>
              <a:rPr lang="en-US" altLang="ko-KR" dirty="0"/>
              <a:t>Pre-process 1) Statistically pruning 2) Synthetic imputation &amp; solar alignment </a:t>
            </a:r>
          </a:p>
          <a:p>
            <a:r>
              <a:rPr lang="en-US" altLang="ko-KR" dirty="0"/>
              <a:t>Feature engineering 1) Lagged trajectories &amp; target encoding 2) Thermodynamic proxy variables</a:t>
            </a:r>
          </a:p>
          <a:p>
            <a:r>
              <a:rPr lang="en-US" altLang="ko-KR" dirty="0"/>
              <a:t>Model choice : Light GBM / </a:t>
            </a:r>
            <a:r>
              <a:rPr lang="en-US" altLang="ko-KR" dirty="0" err="1"/>
              <a:t>XGBoost</a:t>
            </a:r>
            <a:r>
              <a:rPr lang="en-US" altLang="ko-KR" dirty="0"/>
              <a:t> ensemble. </a:t>
            </a:r>
            <a:endParaRPr lang="ko-KR" altLang="en-US" dirty="0"/>
          </a:p>
        </p:txBody>
      </p:sp>
    </p:spTree>
    <p:extLst>
      <p:ext uri="{BB962C8B-B14F-4D97-AF65-F5344CB8AC3E}">
        <p14:creationId xmlns:p14="http://schemas.microsoft.com/office/powerpoint/2010/main" val="36881463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FDF99-F64F-65D1-5E6E-482FBB802FB2}"/>
            </a:ext>
          </a:extLst>
        </p:cNvPr>
        <p:cNvGrpSpPr/>
        <p:nvPr/>
      </p:nvGrpSpPr>
      <p:grpSpPr>
        <a:xfrm>
          <a:off x="0" y="0"/>
          <a:ext cx="0" cy="0"/>
          <a:chOff x="0" y="0"/>
          <a:chExt cx="0" cy="0"/>
        </a:xfrm>
      </p:grpSpPr>
      <p:cxnSp>
        <p:nvCxnSpPr>
          <p:cNvPr id="8" name="직선 연결선 7">
            <a:extLst>
              <a:ext uri="{FF2B5EF4-FFF2-40B4-BE49-F238E27FC236}">
                <a16:creationId xmlns:a16="http://schemas.microsoft.com/office/drawing/2014/main" id="{0FAEF210-A266-05D6-533A-23E7AE9269E7}"/>
              </a:ext>
            </a:extLst>
          </p:cNvPr>
          <p:cNvCxnSpPr>
            <a:cxnSpLocks/>
          </p:cNvCxnSpPr>
          <p:nvPr/>
        </p:nvCxnSpPr>
        <p:spPr>
          <a:xfrm>
            <a:off x="540640" y="686372"/>
            <a:ext cx="11651360" cy="0"/>
          </a:xfrm>
          <a:prstGeom prst="line">
            <a:avLst/>
          </a:prstGeom>
          <a:ln cap="rnd"/>
        </p:spPr>
        <p:style>
          <a:lnRef idx="2">
            <a:schemeClr val="dk1"/>
          </a:lnRef>
          <a:fillRef idx="0">
            <a:schemeClr val="dk1"/>
          </a:fillRef>
          <a:effectRef idx="1">
            <a:schemeClr val="dk1"/>
          </a:effectRef>
          <a:fontRef idx="minor">
            <a:schemeClr val="tx1"/>
          </a:fontRef>
        </p:style>
      </p:cxnSp>
      <p:sp>
        <p:nvSpPr>
          <p:cNvPr id="10" name="TextBox 9">
            <a:extLst>
              <a:ext uri="{FF2B5EF4-FFF2-40B4-BE49-F238E27FC236}">
                <a16:creationId xmlns:a16="http://schemas.microsoft.com/office/drawing/2014/main" id="{16A68619-5216-2DF9-CD9F-9DD0A4DD1743}"/>
              </a:ext>
            </a:extLst>
          </p:cNvPr>
          <p:cNvSpPr txBox="1"/>
          <p:nvPr/>
        </p:nvSpPr>
        <p:spPr>
          <a:xfrm>
            <a:off x="540638" y="154110"/>
            <a:ext cx="9733662" cy="461665"/>
          </a:xfrm>
          <a:prstGeom prst="rect">
            <a:avLst/>
          </a:prstGeom>
          <a:noFill/>
        </p:spPr>
        <p:txBody>
          <a:bodyPr wrap="square" rtlCol="0">
            <a:spAutoFit/>
          </a:bodyPr>
          <a:lstStyle/>
          <a:p>
            <a:r>
              <a:rPr lang="en-US" altLang="ko-KR" sz="2400" b="1" dirty="0">
                <a:latin typeface="Arial" panose="020B0604020202020204" pitchFamily="34" charset="0"/>
                <a:cs typeface="Arial" panose="020B0604020202020204" pitchFamily="34" charset="0"/>
              </a:rPr>
              <a:t>Training results &amp; Discussion</a:t>
            </a:r>
            <a:endParaRPr lang="ko-KR" altLang="en-US" sz="2400" b="1" dirty="0">
              <a:latin typeface="Arial" panose="020B0604020202020204" pitchFamily="34" charset="0"/>
              <a:cs typeface="Arial" panose="020B0604020202020204" pitchFamily="34" charset="0"/>
            </a:endParaRPr>
          </a:p>
        </p:txBody>
      </p:sp>
      <p:sp>
        <p:nvSpPr>
          <p:cNvPr id="45" name="TextBox 44">
            <a:extLst>
              <a:ext uri="{FF2B5EF4-FFF2-40B4-BE49-F238E27FC236}">
                <a16:creationId xmlns:a16="http://schemas.microsoft.com/office/drawing/2014/main" id="{EE4CD400-8C7F-5841-E69E-BE9402F962B1}"/>
              </a:ext>
            </a:extLst>
          </p:cNvPr>
          <p:cNvSpPr txBox="1"/>
          <p:nvPr/>
        </p:nvSpPr>
        <p:spPr>
          <a:xfrm>
            <a:off x="626268" y="693651"/>
            <a:ext cx="8320222" cy="369332"/>
          </a:xfrm>
          <a:prstGeom prst="rect">
            <a:avLst/>
          </a:prstGeom>
          <a:noFill/>
        </p:spPr>
        <p:txBody>
          <a:bodyPr wrap="square" rtlCol="0">
            <a:spAutoFit/>
          </a:bodyPr>
          <a:lstStyle/>
          <a:p>
            <a:r>
              <a:rPr lang="en-US" altLang="ko-KR" b="1" dirty="0"/>
              <a:t>Ensemble of decision-tree models</a:t>
            </a:r>
            <a:endParaRPr lang="ko-KR" altLang="en-US" b="1" dirty="0"/>
          </a:p>
        </p:txBody>
      </p:sp>
      <p:sp>
        <p:nvSpPr>
          <p:cNvPr id="7" name="TextBox 6">
            <a:extLst>
              <a:ext uri="{FF2B5EF4-FFF2-40B4-BE49-F238E27FC236}">
                <a16:creationId xmlns:a16="http://schemas.microsoft.com/office/drawing/2014/main" id="{03F8BF16-F6CE-C8B5-592A-7F17372BD4BF}"/>
              </a:ext>
            </a:extLst>
          </p:cNvPr>
          <p:cNvSpPr txBox="1"/>
          <p:nvPr/>
        </p:nvSpPr>
        <p:spPr>
          <a:xfrm>
            <a:off x="653141" y="3744684"/>
            <a:ext cx="7870373" cy="369332"/>
          </a:xfrm>
          <a:prstGeom prst="rect">
            <a:avLst/>
          </a:prstGeom>
          <a:noFill/>
        </p:spPr>
        <p:txBody>
          <a:bodyPr wrap="square" rtlCol="0">
            <a:spAutoFit/>
          </a:bodyPr>
          <a:lstStyle/>
          <a:p>
            <a:r>
              <a:rPr lang="en-US" altLang="ko-KR" dirty="0"/>
              <a:t>Training results </a:t>
            </a:r>
            <a:endParaRPr lang="ko-KR" altLang="en-US" dirty="0"/>
          </a:p>
        </p:txBody>
      </p:sp>
      <p:sp>
        <p:nvSpPr>
          <p:cNvPr id="9" name="TextBox 8">
            <a:extLst>
              <a:ext uri="{FF2B5EF4-FFF2-40B4-BE49-F238E27FC236}">
                <a16:creationId xmlns:a16="http://schemas.microsoft.com/office/drawing/2014/main" id="{6B20EBEF-CAD4-C113-6941-CE6F23397AA3}"/>
              </a:ext>
            </a:extLst>
          </p:cNvPr>
          <p:cNvSpPr txBox="1"/>
          <p:nvPr/>
        </p:nvSpPr>
        <p:spPr>
          <a:xfrm>
            <a:off x="1186542" y="4253411"/>
            <a:ext cx="9993088" cy="646331"/>
          </a:xfrm>
          <a:prstGeom prst="rect">
            <a:avLst/>
          </a:prstGeom>
          <a:noFill/>
        </p:spPr>
        <p:txBody>
          <a:bodyPr wrap="square" rtlCol="0">
            <a:spAutoFit/>
          </a:bodyPr>
          <a:lstStyle/>
          <a:p>
            <a:r>
              <a:rPr lang="en-US" altLang="ko-KR" dirty="0"/>
              <a:t>What kind of training method we used. </a:t>
            </a:r>
          </a:p>
          <a:p>
            <a:r>
              <a:rPr lang="en-US" altLang="ko-KR" dirty="0"/>
              <a:t>How much accuracy we acquired during training. </a:t>
            </a:r>
            <a:endParaRPr lang="ko-KR" altLang="en-US" dirty="0"/>
          </a:p>
        </p:txBody>
      </p:sp>
    </p:spTree>
    <p:extLst>
      <p:ext uri="{BB962C8B-B14F-4D97-AF65-F5344CB8AC3E}">
        <p14:creationId xmlns:p14="http://schemas.microsoft.com/office/powerpoint/2010/main" val="31869412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EF5F7-BA97-2173-AEAC-3AF0AF729228}"/>
            </a:ext>
          </a:extLst>
        </p:cNvPr>
        <p:cNvGrpSpPr/>
        <p:nvPr/>
      </p:nvGrpSpPr>
      <p:grpSpPr>
        <a:xfrm>
          <a:off x="0" y="0"/>
          <a:ext cx="0" cy="0"/>
          <a:chOff x="0" y="0"/>
          <a:chExt cx="0" cy="0"/>
        </a:xfrm>
      </p:grpSpPr>
      <p:cxnSp>
        <p:nvCxnSpPr>
          <p:cNvPr id="8" name="직선 연결선 7">
            <a:extLst>
              <a:ext uri="{FF2B5EF4-FFF2-40B4-BE49-F238E27FC236}">
                <a16:creationId xmlns:a16="http://schemas.microsoft.com/office/drawing/2014/main" id="{4963A6F1-AD6D-7AD0-DDA0-187C246F04BB}"/>
              </a:ext>
            </a:extLst>
          </p:cNvPr>
          <p:cNvCxnSpPr>
            <a:cxnSpLocks/>
          </p:cNvCxnSpPr>
          <p:nvPr/>
        </p:nvCxnSpPr>
        <p:spPr>
          <a:xfrm>
            <a:off x="540640" y="686372"/>
            <a:ext cx="11651360" cy="0"/>
          </a:xfrm>
          <a:prstGeom prst="line">
            <a:avLst/>
          </a:prstGeom>
          <a:ln cap="rnd"/>
        </p:spPr>
        <p:style>
          <a:lnRef idx="2">
            <a:schemeClr val="dk1"/>
          </a:lnRef>
          <a:fillRef idx="0">
            <a:schemeClr val="dk1"/>
          </a:fillRef>
          <a:effectRef idx="1">
            <a:schemeClr val="dk1"/>
          </a:effectRef>
          <a:fontRef idx="minor">
            <a:schemeClr val="tx1"/>
          </a:fontRef>
        </p:style>
      </p:cxnSp>
      <p:sp>
        <p:nvSpPr>
          <p:cNvPr id="10" name="TextBox 9">
            <a:extLst>
              <a:ext uri="{FF2B5EF4-FFF2-40B4-BE49-F238E27FC236}">
                <a16:creationId xmlns:a16="http://schemas.microsoft.com/office/drawing/2014/main" id="{C880DD38-D02B-31B4-C613-EF185D0F9034}"/>
              </a:ext>
            </a:extLst>
          </p:cNvPr>
          <p:cNvSpPr txBox="1"/>
          <p:nvPr/>
        </p:nvSpPr>
        <p:spPr>
          <a:xfrm>
            <a:off x="540638" y="154110"/>
            <a:ext cx="9733662" cy="461665"/>
          </a:xfrm>
          <a:prstGeom prst="rect">
            <a:avLst/>
          </a:prstGeom>
          <a:noFill/>
        </p:spPr>
        <p:txBody>
          <a:bodyPr wrap="square" rtlCol="0">
            <a:spAutoFit/>
          </a:bodyPr>
          <a:lstStyle/>
          <a:p>
            <a:r>
              <a:rPr lang="en-US" altLang="ko-KR" sz="2400" b="1" dirty="0">
                <a:latin typeface="Arial" panose="020B0604020202020204" pitchFamily="34" charset="0"/>
                <a:cs typeface="Arial" panose="020B0604020202020204" pitchFamily="34" charset="0"/>
              </a:rPr>
              <a:t>Prediction results &amp; Discussion</a:t>
            </a:r>
            <a:endParaRPr lang="ko-KR" altLang="en-US" sz="2400" b="1" dirty="0">
              <a:latin typeface="Arial" panose="020B0604020202020204" pitchFamily="34" charset="0"/>
              <a:cs typeface="Arial" panose="020B0604020202020204" pitchFamily="34" charset="0"/>
            </a:endParaRPr>
          </a:p>
        </p:txBody>
      </p:sp>
      <p:sp>
        <p:nvSpPr>
          <p:cNvPr id="45" name="TextBox 44">
            <a:extLst>
              <a:ext uri="{FF2B5EF4-FFF2-40B4-BE49-F238E27FC236}">
                <a16:creationId xmlns:a16="http://schemas.microsoft.com/office/drawing/2014/main" id="{226FA790-45F3-778C-26E5-8B250F6FCBF6}"/>
              </a:ext>
            </a:extLst>
          </p:cNvPr>
          <p:cNvSpPr txBox="1"/>
          <p:nvPr/>
        </p:nvSpPr>
        <p:spPr>
          <a:xfrm>
            <a:off x="626268" y="693651"/>
            <a:ext cx="8320222" cy="369332"/>
          </a:xfrm>
          <a:prstGeom prst="rect">
            <a:avLst/>
          </a:prstGeom>
          <a:noFill/>
        </p:spPr>
        <p:txBody>
          <a:bodyPr wrap="square" rtlCol="0">
            <a:spAutoFit/>
          </a:bodyPr>
          <a:lstStyle/>
          <a:p>
            <a:r>
              <a:rPr lang="en-US" altLang="ko-KR" b="1" dirty="0"/>
              <a:t>Ensemble of decision-tree models</a:t>
            </a:r>
            <a:endParaRPr lang="ko-KR" altLang="en-US" b="1" dirty="0"/>
          </a:p>
        </p:txBody>
      </p:sp>
      <p:sp>
        <p:nvSpPr>
          <p:cNvPr id="7" name="TextBox 6">
            <a:extLst>
              <a:ext uri="{FF2B5EF4-FFF2-40B4-BE49-F238E27FC236}">
                <a16:creationId xmlns:a16="http://schemas.microsoft.com/office/drawing/2014/main" id="{9133294C-1389-7890-8C38-08ED1B35C393}"/>
              </a:ext>
            </a:extLst>
          </p:cNvPr>
          <p:cNvSpPr txBox="1"/>
          <p:nvPr/>
        </p:nvSpPr>
        <p:spPr>
          <a:xfrm>
            <a:off x="653141" y="3744684"/>
            <a:ext cx="8479973" cy="646331"/>
          </a:xfrm>
          <a:prstGeom prst="rect">
            <a:avLst/>
          </a:prstGeom>
          <a:noFill/>
        </p:spPr>
        <p:txBody>
          <a:bodyPr wrap="square" rtlCol="0">
            <a:spAutoFit/>
          </a:bodyPr>
          <a:lstStyle/>
          <a:p>
            <a:r>
              <a:rPr lang="en-US" altLang="ko-KR" dirty="0"/>
              <a:t>Why our prediction results is lower or higher than the training/verification results.</a:t>
            </a:r>
          </a:p>
          <a:p>
            <a:r>
              <a:rPr lang="en-US" altLang="ko-KR" dirty="0"/>
              <a:t>Comparison with the top 5 competitors. </a:t>
            </a:r>
            <a:endParaRPr lang="ko-KR" altLang="en-US" dirty="0"/>
          </a:p>
        </p:txBody>
      </p:sp>
      <p:sp>
        <p:nvSpPr>
          <p:cNvPr id="2" name="TextBox 1">
            <a:extLst>
              <a:ext uri="{FF2B5EF4-FFF2-40B4-BE49-F238E27FC236}">
                <a16:creationId xmlns:a16="http://schemas.microsoft.com/office/drawing/2014/main" id="{4D71E7CD-3140-1CC4-1EA5-7E591F19C3D4}"/>
              </a:ext>
            </a:extLst>
          </p:cNvPr>
          <p:cNvSpPr txBox="1"/>
          <p:nvPr/>
        </p:nvSpPr>
        <p:spPr>
          <a:xfrm>
            <a:off x="740227" y="2998742"/>
            <a:ext cx="8479973" cy="369332"/>
          </a:xfrm>
          <a:prstGeom prst="rect">
            <a:avLst/>
          </a:prstGeom>
          <a:noFill/>
        </p:spPr>
        <p:txBody>
          <a:bodyPr wrap="square" rtlCol="0">
            <a:spAutoFit/>
          </a:bodyPr>
          <a:lstStyle/>
          <a:p>
            <a:r>
              <a:rPr lang="en-US" altLang="ko-KR" dirty="0"/>
              <a:t>Prediction model performance </a:t>
            </a:r>
            <a:endParaRPr lang="ko-KR" altLang="en-US" dirty="0"/>
          </a:p>
        </p:txBody>
      </p:sp>
    </p:spTree>
    <p:extLst>
      <p:ext uri="{BB962C8B-B14F-4D97-AF65-F5344CB8AC3E}">
        <p14:creationId xmlns:p14="http://schemas.microsoft.com/office/powerpoint/2010/main" val="617197442"/>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noto_arial">
      <a:majorFont>
        <a:latin typeface="Arial"/>
        <a:ea typeface="Noto Sans KR"/>
        <a:cs typeface=""/>
      </a:majorFont>
      <a:minorFont>
        <a:latin typeface="Arial"/>
        <a:ea typeface="Noto Sans K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TotalTime>
  <Words>641</Words>
  <Application>Microsoft Office PowerPoint</Application>
  <PresentationFormat>와이드스크린</PresentationFormat>
  <Paragraphs>66</Paragraphs>
  <Slides>9</Slides>
  <Notes>9</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9</vt:i4>
      </vt:variant>
    </vt:vector>
  </HeadingPairs>
  <TitlesOfParts>
    <vt:vector size="12" baseType="lpstr">
      <vt:lpstr>맑은 고딕</vt:lpstr>
      <vt:lpstr>Arial</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강은수(기계공학과)</dc:creator>
  <cp:lastModifiedBy>강은수(기계공학과)</cp:lastModifiedBy>
  <cp:revision>16</cp:revision>
  <dcterms:created xsi:type="dcterms:W3CDTF">2026-05-12T06:56:41Z</dcterms:created>
  <dcterms:modified xsi:type="dcterms:W3CDTF">2026-05-12T14:28:56Z</dcterms:modified>
</cp:coreProperties>
</file>